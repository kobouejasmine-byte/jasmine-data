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19"/>
  </p:notesMasterIdLst>
  <p:handoutMasterIdLst>
    <p:handoutMasterId r:id="rId20"/>
  </p:handoutMasterIdLst>
  <p:sldIdLst>
    <p:sldId id="256" r:id="rId2"/>
    <p:sldId id="257" r:id="rId3"/>
    <p:sldId id="275" r:id="rId4"/>
    <p:sldId id="267" r:id="rId5"/>
    <p:sldId id="258" r:id="rId6"/>
    <p:sldId id="259" r:id="rId7"/>
    <p:sldId id="261" r:id="rId8"/>
    <p:sldId id="268" r:id="rId9"/>
    <p:sldId id="271" r:id="rId10"/>
    <p:sldId id="262" r:id="rId11"/>
    <p:sldId id="263" r:id="rId12"/>
    <p:sldId id="269" r:id="rId13"/>
    <p:sldId id="270" r:id="rId14"/>
    <p:sldId id="272" r:id="rId15"/>
    <p:sldId id="273" r:id="rId16"/>
    <p:sldId id="274" r:id="rId17"/>
    <p:sldId id="265" r:id="rId18"/>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notesViewPr>
    <p:cSldViewPr snapToGrid="0">
      <p:cViewPr varScale="1">
        <p:scale>
          <a:sx n="86" d="100"/>
          <a:sy n="86" d="100"/>
        </p:scale>
        <p:origin x="311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86C3D2F-5A05-4596-A225-FC14565701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F39C051B-F26C-4470-B56C-092B4E1C4C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FDB7DD3-0239-4620-987E-1CD4A4A9CAA5}" type="datetime1">
              <a:rPr lang="fr-FR" smtClean="0"/>
              <a:t>18/09/2025</a:t>
            </a:fld>
            <a:endParaRPr lang="fr-FR"/>
          </a:p>
        </p:txBody>
      </p:sp>
      <p:sp>
        <p:nvSpPr>
          <p:cNvPr id="4" name="Espace réservé du pied de page 3">
            <a:extLst>
              <a:ext uri="{FF2B5EF4-FFF2-40B4-BE49-F238E27FC236}">
                <a16:creationId xmlns:a16="http://schemas.microsoft.com/office/drawing/2014/main" id="{CD59DB8B-3A1C-4291-8A97-C19C5D31C3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9E6310B9-42FE-4FE9-8C0B-5C7382DBB0E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EFCFFF0-B784-4FE7-8A38-F89DE294F830}" type="slidenum">
              <a:rPr lang="fr-FR" smtClean="0"/>
              <a:t>‹N°›</a:t>
            </a:fld>
            <a:endParaRPr lang="fr-FR"/>
          </a:p>
        </p:txBody>
      </p:sp>
    </p:spTree>
    <p:extLst>
      <p:ext uri="{BB962C8B-B14F-4D97-AF65-F5344CB8AC3E}">
        <p14:creationId xmlns:p14="http://schemas.microsoft.com/office/powerpoint/2010/main" val="21015669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D195BF5E-DBB5-4486-A87F-68330D578F8F}" type="datetime1">
              <a:rPr lang="fr-FR" noProof="0" smtClean="0"/>
              <a:t>18/09/2025</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98C672F-171E-46DC-915C-C7BCF99F5C42}" type="slidenum">
              <a:rPr lang="fr-FR" noProof="0" smtClean="0"/>
              <a:t>‹N°›</a:t>
            </a:fld>
            <a:endParaRPr lang="fr-FR" noProof="0"/>
          </a:p>
        </p:txBody>
      </p:sp>
    </p:spTree>
    <p:extLst>
      <p:ext uri="{BB962C8B-B14F-4D97-AF65-F5344CB8AC3E}">
        <p14:creationId xmlns:p14="http://schemas.microsoft.com/office/powerpoint/2010/main" val="195849806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998C672F-171E-46DC-915C-C7BCF99F5C42}" type="slidenum">
              <a:rPr lang="fr-FR" smtClean="0"/>
              <a:t>1</a:t>
            </a:fld>
            <a:endParaRPr lang="fr-FR"/>
          </a:p>
        </p:txBody>
      </p:sp>
    </p:spTree>
    <p:extLst>
      <p:ext uri="{BB962C8B-B14F-4D97-AF65-F5344CB8AC3E}">
        <p14:creationId xmlns:p14="http://schemas.microsoft.com/office/powerpoint/2010/main" val="2865225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2</a:t>
            </a:fld>
            <a:endParaRPr lang="fr-FR"/>
          </a:p>
        </p:txBody>
      </p:sp>
    </p:spTree>
    <p:extLst>
      <p:ext uri="{BB962C8B-B14F-4D97-AF65-F5344CB8AC3E}">
        <p14:creationId xmlns:p14="http://schemas.microsoft.com/office/powerpoint/2010/main" val="2856989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3</a:t>
            </a:fld>
            <a:endParaRPr lang="fr-FR"/>
          </a:p>
        </p:txBody>
      </p:sp>
    </p:spTree>
    <p:extLst>
      <p:ext uri="{BB962C8B-B14F-4D97-AF65-F5344CB8AC3E}">
        <p14:creationId xmlns:p14="http://schemas.microsoft.com/office/powerpoint/2010/main" val="1011685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4</a:t>
            </a:fld>
            <a:endParaRPr lang="fr-FR"/>
          </a:p>
        </p:txBody>
      </p:sp>
    </p:spTree>
    <p:extLst>
      <p:ext uri="{BB962C8B-B14F-4D97-AF65-F5344CB8AC3E}">
        <p14:creationId xmlns:p14="http://schemas.microsoft.com/office/powerpoint/2010/main" val="3573252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5</a:t>
            </a:fld>
            <a:endParaRPr lang="fr-FR"/>
          </a:p>
        </p:txBody>
      </p:sp>
    </p:spTree>
    <p:extLst>
      <p:ext uri="{BB962C8B-B14F-4D97-AF65-F5344CB8AC3E}">
        <p14:creationId xmlns:p14="http://schemas.microsoft.com/office/powerpoint/2010/main" val="633755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6</a:t>
            </a:fld>
            <a:endParaRPr lang="fr-FR"/>
          </a:p>
        </p:txBody>
      </p:sp>
    </p:spTree>
    <p:extLst>
      <p:ext uri="{BB962C8B-B14F-4D97-AF65-F5344CB8AC3E}">
        <p14:creationId xmlns:p14="http://schemas.microsoft.com/office/powerpoint/2010/main" val="4123795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7</a:t>
            </a:fld>
            <a:endParaRPr lang="fr-FR"/>
          </a:p>
        </p:txBody>
      </p:sp>
    </p:spTree>
    <p:extLst>
      <p:ext uri="{BB962C8B-B14F-4D97-AF65-F5344CB8AC3E}">
        <p14:creationId xmlns:p14="http://schemas.microsoft.com/office/powerpoint/2010/main" val="1114501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8</a:t>
            </a:fld>
            <a:endParaRPr lang="fr-FR"/>
          </a:p>
        </p:txBody>
      </p:sp>
    </p:spTree>
    <p:extLst>
      <p:ext uri="{BB962C8B-B14F-4D97-AF65-F5344CB8AC3E}">
        <p14:creationId xmlns:p14="http://schemas.microsoft.com/office/powerpoint/2010/main" val="1398728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9</a:t>
            </a:fld>
            <a:endParaRPr lang="fr-FR"/>
          </a:p>
        </p:txBody>
      </p:sp>
    </p:spTree>
    <p:extLst>
      <p:ext uri="{BB962C8B-B14F-4D97-AF65-F5344CB8AC3E}">
        <p14:creationId xmlns:p14="http://schemas.microsoft.com/office/powerpoint/2010/main" val="1427922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10</a:t>
            </a:fld>
            <a:endParaRPr lang="fr-FR"/>
          </a:p>
        </p:txBody>
      </p:sp>
    </p:spTree>
    <p:extLst>
      <p:ext uri="{BB962C8B-B14F-4D97-AF65-F5344CB8AC3E}">
        <p14:creationId xmlns:p14="http://schemas.microsoft.com/office/powerpoint/2010/main" val="2835645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11</a:t>
            </a:fld>
            <a:endParaRPr lang="fr-FR"/>
          </a:p>
        </p:txBody>
      </p:sp>
    </p:spTree>
    <p:extLst>
      <p:ext uri="{BB962C8B-B14F-4D97-AF65-F5344CB8AC3E}">
        <p14:creationId xmlns:p14="http://schemas.microsoft.com/office/powerpoint/2010/main" val="2305498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12</a:t>
            </a:fld>
            <a:endParaRPr lang="fr-FR"/>
          </a:p>
        </p:txBody>
      </p:sp>
    </p:spTree>
    <p:extLst>
      <p:ext uri="{BB962C8B-B14F-4D97-AF65-F5344CB8AC3E}">
        <p14:creationId xmlns:p14="http://schemas.microsoft.com/office/powerpoint/2010/main" val="2376034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13</a:t>
            </a:fld>
            <a:endParaRPr lang="fr-FR"/>
          </a:p>
        </p:txBody>
      </p:sp>
    </p:spTree>
    <p:extLst>
      <p:ext uri="{BB962C8B-B14F-4D97-AF65-F5344CB8AC3E}">
        <p14:creationId xmlns:p14="http://schemas.microsoft.com/office/powerpoint/2010/main" val="3259997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14</a:t>
            </a:fld>
            <a:endParaRPr lang="fr-FR"/>
          </a:p>
        </p:txBody>
      </p:sp>
    </p:spTree>
    <p:extLst>
      <p:ext uri="{BB962C8B-B14F-4D97-AF65-F5344CB8AC3E}">
        <p14:creationId xmlns:p14="http://schemas.microsoft.com/office/powerpoint/2010/main" val="3407664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15</a:t>
            </a:fld>
            <a:endParaRPr lang="fr-FR"/>
          </a:p>
        </p:txBody>
      </p:sp>
    </p:spTree>
    <p:extLst>
      <p:ext uri="{BB962C8B-B14F-4D97-AF65-F5344CB8AC3E}">
        <p14:creationId xmlns:p14="http://schemas.microsoft.com/office/powerpoint/2010/main" val="1870093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16</a:t>
            </a:fld>
            <a:endParaRPr lang="fr-FR"/>
          </a:p>
        </p:txBody>
      </p:sp>
    </p:spTree>
    <p:extLst>
      <p:ext uri="{BB962C8B-B14F-4D97-AF65-F5344CB8AC3E}">
        <p14:creationId xmlns:p14="http://schemas.microsoft.com/office/powerpoint/2010/main" val="18341813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98C672F-171E-46DC-915C-C7BCF99F5C42}" type="slidenum">
              <a:rPr lang="fr-FR" smtClean="0"/>
              <a:t>17</a:t>
            </a:fld>
            <a:endParaRPr lang="fr-FR"/>
          </a:p>
        </p:txBody>
      </p:sp>
    </p:spTree>
    <p:extLst>
      <p:ext uri="{BB962C8B-B14F-4D97-AF65-F5344CB8AC3E}">
        <p14:creationId xmlns:p14="http://schemas.microsoft.com/office/powerpoint/2010/main" val="918594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accent1"/>
        </a:solidFill>
        <a:effectLst/>
      </p:bgPr>
    </p:bg>
    <p:spTree>
      <p:nvGrpSpPr>
        <p:cNvPr id="1" name=""/>
        <p:cNvGrpSpPr/>
        <p:nvPr/>
      </p:nvGrpSpPr>
      <p:grpSpPr>
        <a:xfrm>
          <a:off x="0" y="0"/>
          <a:ext cx="0" cy="0"/>
          <a:chOff x="0" y="0"/>
          <a:chExt cx="0" cy="0"/>
        </a:xfrm>
      </p:grpSpPr>
      <p:sp>
        <p:nvSpPr>
          <p:cNvPr id="11" name="Forme libre 6" title="cercle festonné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re 1"/>
          <p:cNvSpPr>
            <a:spLocks noGrp="1"/>
          </p:cNvSpPr>
          <p:nvPr>
            <p:ph type="ctrTitle"/>
          </p:nvPr>
        </p:nvSpPr>
        <p:spPr>
          <a:xfrm>
            <a:off x="1078523" y="1098388"/>
            <a:ext cx="10318418" cy="4394988"/>
          </a:xfrm>
        </p:spPr>
        <p:txBody>
          <a:bodyPr rtlCol="0" anchor="ctr">
            <a:noAutofit/>
          </a:bodyPr>
          <a:lstStyle>
            <a:lvl1pPr algn="ctr">
              <a:defRPr sz="10000" spc="800" baseline="0"/>
            </a:lvl1pPr>
          </a:lstStyle>
          <a:p>
            <a:pPr rtl="0"/>
            <a:r>
              <a:rPr lang="fr-FR" noProof="0"/>
              <a:t>Modifiez le style du titre</a:t>
            </a:r>
          </a:p>
        </p:txBody>
      </p:sp>
      <p:sp>
        <p:nvSpPr>
          <p:cNvPr id="3" name="Sous-titre 2"/>
          <p:cNvSpPr>
            <a:spLocks noGrp="1"/>
          </p:cNvSpPr>
          <p:nvPr>
            <p:ph type="subTitle" idx="1"/>
          </p:nvPr>
        </p:nvSpPr>
        <p:spPr>
          <a:xfrm>
            <a:off x="2215045" y="5979196"/>
            <a:ext cx="8045373" cy="742279"/>
          </a:xfrm>
        </p:spPr>
        <p:txBody>
          <a:bodyPr rtlCol="0"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sp>
        <p:nvSpPr>
          <p:cNvPr id="4" name="Espace réservé de la date 3"/>
          <p:cNvSpPr>
            <a:spLocks noGrp="1"/>
          </p:cNvSpPr>
          <p:nvPr>
            <p:ph type="dt" sz="half" idx="10"/>
          </p:nvPr>
        </p:nvSpPr>
        <p:spPr>
          <a:xfrm>
            <a:off x="1078523" y="6375679"/>
            <a:ext cx="2329722" cy="348462"/>
          </a:xfrm>
        </p:spPr>
        <p:txBody>
          <a:bodyPr rtlCol="0"/>
          <a:lstStyle>
            <a:lvl1pPr>
              <a:defRPr baseline="0">
                <a:solidFill>
                  <a:schemeClr val="accent1">
                    <a:lumMod val="50000"/>
                  </a:schemeClr>
                </a:solidFill>
              </a:defRPr>
            </a:lvl1pPr>
          </a:lstStyle>
          <a:p>
            <a:pPr rtl="0"/>
            <a:fld id="{906A2722-D0FA-4013-AE2D-242AD279F160}" type="datetime1">
              <a:rPr lang="fr-FR" noProof="0" smtClean="0"/>
              <a:t>18/09/2025</a:t>
            </a:fld>
            <a:endParaRPr lang="fr-FR" noProof="0"/>
          </a:p>
        </p:txBody>
      </p:sp>
      <p:sp>
        <p:nvSpPr>
          <p:cNvPr id="5" name="Espace réservé du pied de page 4"/>
          <p:cNvSpPr>
            <a:spLocks noGrp="1"/>
          </p:cNvSpPr>
          <p:nvPr>
            <p:ph type="ftr" sz="quarter" idx="11"/>
          </p:nvPr>
        </p:nvSpPr>
        <p:spPr>
          <a:xfrm>
            <a:off x="4180332" y="6375679"/>
            <a:ext cx="4114800" cy="345796"/>
          </a:xfrm>
        </p:spPr>
        <p:txBody>
          <a:bodyPr rtlCol="0"/>
          <a:lstStyle>
            <a:lvl1pPr>
              <a:defRPr baseline="0">
                <a:solidFill>
                  <a:schemeClr val="accent1">
                    <a:lumMod val="50000"/>
                  </a:schemeClr>
                </a:solidFill>
              </a:defRPr>
            </a:lvl1pPr>
          </a:lstStyle>
          <a:p>
            <a:pPr rtl="0"/>
            <a:endParaRPr lang="fr-FR" noProof="0"/>
          </a:p>
        </p:txBody>
      </p:sp>
      <p:sp>
        <p:nvSpPr>
          <p:cNvPr id="6" name="Espace réservé du numéro de diapositive 5"/>
          <p:cNvSpPr>
            <a:spLocks noGrp="1"/>
          </p:cNvSpPr>
          <p:nvPr>
            <p:ph type="sldNum" sz="quarter" idx="12"/>
          </p:nvPr>
        </p:nvSpPr>
        <p:spPr>
          <a:xfrm>
            <a:off x="9067218" y="6375679"/>
            <a:ext cx="2329723" cy="345796"/>
          </a:xfrm>
        </p:spPr>
        <p:txBody>
          <a:bodyPr rtlCol="0"/>
          <a:lstStyle>
            <a:lvl1pPr>
              <a:defRPr baseline="0">
                <a:solidFill>
                  <a:schemeClr val="accent1">
                    <a:lumMod val="50000"/>
                  </a:schemeClr>
                </a:solidFill>
              </a:defRPr>
            </a:lvl1pPr>
          </a:lstStyle>
          <a:p>
            <a:pPr rtl="0"/>
            <a:fld id="{299DD5A9-4EF1-497E-92EF-2D23CF305E03}" type="slidenum">
              <a:rPr lang="fr-FR" noProof="0" smtClean="0"/>
              <a:t>‹N°›</a:t>
            </a:fld>
            <a:endParaRPr lang="fr-FR" noProof="0"/>
          </a:p>
        </p:txBody>
      </p:sp>
      <p:sp>
        <p:nvSpPr>
          <p:cNvPr id="13" name="Rectangle 12" title="bordure du bord gauche"/>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0524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idx="1" hasCustomPrompt="1"/>
          </p:nvPr>
        </p:nvSpPr>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C1129DF5-9F26-4D1F-AFC0-F76D72DC0D79}" type="datetime1">
              <a:rPr lang="fr-FR" noProof="0" smtClean="0"/>
              <a:t>18/09/2025</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299DD5A9-4EF1-497E-92EF-2D23CF305E03}" type="slidenum">
              <a:rPr lang="fr-FR" noProof="0" smtClean="0"/>
              <a:t>‹N°›</a:t>
            </a:fld>
            <a:endParaRPr lang="fr-FR" noProof="0"/>
          </a:p>
        </p:txBody>
      </p:sp>
    </p:spTree>
    <p:extLst>
      <p:ext uri="{BB962C8B-B14F-4D97-AF65-F5344CB8AC3E}">
        <p14:creationId xmlns:p14="http://schemas.microsoft.com/office/powerpoint/2010/main" val="2869611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3242929" y="1073888"/>
            <a:ext cx="8187071" cy="4064627"/>
          </a:xfrm>
        </p:spPr>
        <p:txBody>
          <a:bodyPr rtlCol="0" anchor="b">
            <a:normAutofit/>
          </a:bodyPr>
          <a:lstStyle>
            <a:lvl1pPr>
              <a:defRPr sz="8400" spc="800" baseline="0">
                <a:solidFill>
                  <a:schemeClr val="tx2"/>
                </a:solidFill>
              </a:defRPr>
            </a:lvl1pPr>
          </a:lstStyle>
          <a:p>
            <a:pPr rtl="0"/>
            <a:r>
              <a:rPr lang="fr-FR" noProof="0"/>
              <a:t>Modifiez le style du titre</a:t>
            </a:r>
          </a:p>
        </p:txBody>
      </p:sp>
      <p:sp>
        <p:nvSpPr>
          <p:cNvPr id="3" name="Espace réservé du texte 2"/>
          <p:cNvSpPr>
            <a:spLocks noGrp="1"/>
          </p:cNvSpPr>
          <p:nvPr>
            <p:ph type="body" idx="1" hasCustomPrompt="1"/>
          </p:nvPr>
        </p:nvSpPr>
        <p:spPr>
          <a:xfrm>
            <a:off x="3242930" y="5159781"/>
            <a:ext cx="7017488" cy="951135"/>
          </a:xfrm>
        </p:spPr>
        <p:txBody>
          <a:bodyPr rtlCol="0">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 du masque</a:t>
            </a:r>
          </a:p>
        </p:txBody>
      </p:sp>
      <p:sp>
        <p:nvSpPr>
          <p:cNvPr id="4" name="Espace réservé de la date 3"/>
          <p:cNvSpPr>
            <a:spLocks noGrp="1"/>
          </p:cNvSpPr>
          <p:nvPr>
            <p:ph type="dt" sz="half" idx="10"/>
          </p:nvPr>
        </p:nvSpPr>
        <p:spPr>
          <a:xfrm>
            <a:off x="3236546" y="6375679"/>
            <a:ext cx="1493947" cy="348462"/>
          </a:xfrm>
        </p:spPr>
        <p:txBody>
          <a:bodyPr rtlCol="0"/>
          <a:lstStyle>
            <a:lvl1pPr>
              <a:defRPr baseline="0">
                <a:solidFill>
                  <a:schemeClr val="tx2"/>
                </a:solidFill>
              </a:defRPr>
            </a:lvl1pPr>
          </a:lstStyle>
          <a:p>
            <a:pPr rtl="0"/>
            <a:fld id="{4992D443-2C30-4CBF-9EE7-5905309B27E0}" type="datetime1">
              <a:rPr lang="fr-FR" noProof="0" smtClean="0"/>
              <a:t>18/09/2025</a:t>
            </a:fld>
            <a:endParaRPr lang="fr-FR" noProof="0"/>
          </a:p>
        </p:txBody>
      </p:sp>
      <p:sp>
        <p:nvSpPr>
          <p:cNvPr id="5" name="Espace réservé du pied de page 4"/>
          <p:cNvSpPr>
            <a:spLocks noGrp="1"/>
          </p:cNvSpPr>
          <p:nvPr>
            <p:ph type="ftr" sz="quarter" idx="11"/>
          </p:nvPr>
        </p:nvSpPr>
        <p:spPr>
          <a:xfrm>
            <a:off x="5279064" y="6375679"/>
            <a:ext cx="4114800" cy="345796"/>
          </a:xfrm>
        </p:spPr>
        <p:txBody>
          <a:bodyPr rtlCol="0"/>
          <a:lstStyle>
            <a:lvl1pPr>
              <a:defRPr baseline="0">
                <a:solidFill>
                  <a:schemeClr val="tx2"/>
                </a:solidFill>
              </a:defRPr>
            </a:lvl1pPr>
          </a:lstStyle>
          <a:p>
            <a:pPr rtl="0"/>
            <a:endParaRPr lang="fr-FR" noProof="0"/>
          </a:p>
        </p:txBody>
      </p:sp>
      <p:sp>
        <p:nvSpPr>
          <p:cNvPr id="6" name="Espace réservé du numéro de diapositive 5"/>
          <p:cNvSpPr>
            <a:spLocks noGrp="1"/>
          </p:cNvSpPr>
          <p:nvPr>
            <p:ph type="sldNum" sz="quarter" idx="12"/>
          </p:nvPr>
        </p:nvSpPr>
        <p:spPr>
          <a:xfrm>
            <a:off x="9942434" y="6375679"/>
            <a:ext cx="1487566" cy="345796"/>
          </a:xfrm>
        </p:spPr>
        <p:txBody>
          <a:bodyPr rtlCol="0"/>
          <a:lstStyle>
            <a:lvl1pPr>
              <a:defRPr baseline="0">
                <a:solidFill>
                  <a:schemeClr val="tx2"/>
                </a:solidFill>
              </a:defRPr>
            </a:lvl1pPr>
          </a:lstStyle>
          <a:p>
            <a:pPr rtl="0"/>
            <a:fld id="{299DD5A9-4EF1-497E-92EF-2D23CF305E03}" type="slidenum">
              <a:rPr lang="fr-FR" noProof="0" smtClean="0"/>
              <a:t>‹N°›</a:t>
            </a:fld>
            <a:endParaRPr lang="fr-FR" noProof="0"/>
          </a:p>
        </p:txBody>
      </p:sp>
      <p:grpSp>
        <p:nvGrpSpPr>
          <p:cNvPr id="7" name="Groupe 6" title="Bordure festonnée gauche"/>
          <p:cNvGrpSpPr/>
          <p:nvPr/>
        </p:nvGrpSpPr>
        <p:grpSpPr>
          <a:xfrm>
            <a:off x="0" y="0"/>
            <a:ext cx="2814638" cy="6858000"/>
            <a:chOff x="0" y="0"/>
            <a:chExt cx="2814638" cy="6858000"/>
          </a:xfrm>
        </p:grpSpPr>
        <p:sp>
          <p:nvSpPr>
            <p:cNvPr id="11" name="Forme libre 6" title="Bordure festonnée gauch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orme libre 11" title="ligne festonnée gauch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5131944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sz="half" idx="1" hasCustomPrompt="1"/>
          </p:nvPr>
        </p:nvSpPr>
        <p:spPr>
          <a:xfrm>
            <a:off x="1257300" y="2286000"/>
            <a:ext cx="4800600" cy="361950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p:cNvSpPr>
            <a:spLocks noGrp="1"/>
          </p:cNvSpPr>
          <p:nvPr>
            <p:ph sz="half" idx="2" hasCustomPrompt="1"/>
          </p:nvPr>
        </p:nvSpPr>
        <p:spPr>
          <a:xfrm>
            <a:off x="6647796" y="2286000"/>
            <a:ext cx="4800600" cy="361950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e la date 4"/>
          <p:cNvSpPr>
            <a:spLocks noGrp="1"/>
          </p:cNvSpPr>
          <p:nvPr>
            <p:ph type="dt" sz="half" idx="10"/>
          </p:nvPr>
        </p:nvSpPr>
        <p:spPr/>
        <p:txBody>
          <a:bodyPr rtlCol="0"/>
          <a:lstStyle/>
          <a:p>
            <a:pPr rtl="0"/>
            <a:fld id="{06127228-D22E-411E-934E-182AF7192E74}" type="datetime1">
              <a:rPr lang="fr-FR" noProof="0" smtClean="0"/>
              <a:t>18/09/2025</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299DD5A9-4EF1-497E-92EF-2D23CF305E03}" type="slidenum">
              <a:rPr lang="fr-FR" noProof="0" smtClean="0"/>
              <a:t>‹N°›</a:t>
            </a:fld>
            <a:endParaRPr lang="fr-FR" noProof="0"/>
          </a:p>
        </p:txBody>
      </p:sp>
    </p:spTree>
    <p:extLst>
      <p:ext uri="{BB962C8B-B14F-4D97-AF65-F5344CB8AC3E}">
        <p14:creationId xmlns:p14="http://schemas.microsoft.com/office/powerpoint/2010/main" val="270027440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1252728" y="381000"/>
            <a:ext cx="10172700" cy="1493517"/>
          </a:xfrm>
        </p:spPr>
        <p:txBody>
          <a:bodyPr rtlCol="0"/>
          <a:lstStyle/>
          <a:p>
            <a:pPr rtl="0"/>
            <a:r>
              <a:rPr lang="fr-FR" noProof="0"/>
              <a:t>Modifiez le style du titre</a:t>
            </a:r>
          </a:p>
        </p:txBody>
      </p:sp>
      <p:sp>
        <p:nvSpPr>
          <p:cNvPr id="3" name="Espace réservé du texte 2"/>
          <p:cNvSpPr>
            <a:spLocks noGrp="1"/>
          </p:cNvSpPr>
          <p:nvPr>
            <p:ph type="body" idx="1" hasCustomPrompt="1"/>
          </p:nvPr>
        </p:nvSpPr>
        <p:spPr>
          <a:xfrm>
            <a:off x="1251678" y="2199633"/>
            <a:ext cx="4800600" cy="632529"/>
          </a:xfrm>
        </p:spPr>
        <p:txBody>
          <a:bodyPr rtlCol="0"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3"/>
          <p:cNvSpPr>
            <a:spLocks noGrp="1"/>
          </p:cNvSpPr>
          <p:nvPr>
            <p:ph sz="half" idx="2" hasCustomPrompt="1"/>
          </p:nvPr>
        </p:nvSpPr>
        <p:spPr>
          <a:xfrm>
            <a:off x="1257300" y="2909102"/>
            <a:ext cx="4800600" cy="2996398"/>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p:cNvSpPr>
            <a:spLocks noGrp="1"/>
          </p:cNvSpPr>
          <p:nvPr>
            <p:ph type="body" sz="quarter" idx="3" hasCustomPrompt="1"/>
          </p:nvPr>
        </p:nvSpPr>
        <p:spPr>
          <a:xfrm>
            <a:off x="6633864" y="2199633"/>
            <a:ext cx="4800600" cy="632529"/>
          </a:xfrm>
        </p:spPr>
        <p:txBody>
          <a:bodyPr rtlCol="0"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6" name="Espace réservé du contenu 5"/>
          <p:cNvSpPr>
            <a:spLocks noGrp="1"/>
          </p:cNvSpPr>
          <p:nvPr>
            <p:ph sz="quarter" idx="4" hasCustomPrompt="1"/>
          </p:nvPr>
        </p:nvSpPr>
        <p:spPr>
          <a:xfrm>
            <a:off x="6633864" y="2909102"/>
            <a:ext cx="4800600" cy="2996398"/>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p:cNvSpPr>
            <a:spLocks noGrp="1"/>
          </p:cNvSpPr>
          <p:nvPr>
            <p:ph type="dt" sz="half" idx="10"/>
          </p:nvPr>
        </p:nvSpPr>
        <p:spPr/>
        <p:txBody>
          <a:bodyPr rtlCol="0"/>
          <a:lstStyle/>
          <a:p>
            <a:pPr rtl="0"/>
            <a:fld id="{8383CDB1-C3EF-48BC-AB57-BC1C42208A06}" type="datetime1">
              <a:rPr lang="fr-FR" noProof="0" smtClean="0"/>
              <a:t>18/09/2025</a:t>
            </a:fld>
            <a:endParaRPr lang="fr-FR" noProof="0"/>
          </a:p>
        </p:txBody>
      </p:sp>
      <p:sp>
        <p:nvSpPr>
          <p:cNvPr id="8" name="Espace réservé du pied de page 7"/>
          <p:cNvSpPr>
            <a:spLocks noGrp="1"/>
          </p:cNvSpPr>
          <p:nvPr>
            <p:ph type="ftr" sz="quarter" idx="11"/>
          </p:nvPr>
        </p:nvSpPr>
        <p:spPr/>
        <p:txBody>
          <a:bodyPr rtlCol="0"/>
          <a:lstStyle/>
          <a:p>
            <a:pPr rtl="0"/>
            <a:endParaRPr lang="fr-FR" noProof="0"/>
          </a:p>
        </p:txBody>
      </p:sp>
      <p:sp>
        <p:nvSpPr>
          <p:cNvPr id="9" name="Espace réservé du numéro de diapositive 8"/>
          <p:cNvSpPr>
            <a:spLocks noGrp="1"/>
          </p:cNvSpPr>
          <p:nvPr>
            <p:ph type="sldNum" sz="quarter" idx="12"/>
          </p:nvPr>
        </p:nvSpPr>
        <p:spPr/>
        <p:txBody>
          <a:bodyPr rtlCol="0"/>
          <a:lstStyle/>
          <a:p>
            <a:pPr rtl="0"/>
            <a:fld id="{299DD5A9-4EF1-497E-92EF-2D23CF305E03}" type="slidenum">
              <a:rPr lang="fr-FR" noProof="0" smtClean="0"/>
              <a:t>‹N°›</a:t>
            </a:fld>
            <a:endParaRPr lang="fr-FR" noProof="0"/>
          </a:p>
        </p:txBody>
      </p:sp>
    </p:spTree>
    <p:extLst>
      <p:ext uri="{BB962C8B-B14F-4D97-AF65-F5344CB8AC3E}">
        <p14:creationId xmlns:p14="http://schemas.microsoft.com/office/powerpoint/2010/main" val="55832357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e la date 2"/>
          <p:cNvSpPr>
            <a:spLocks noGrp="1"/>
          </p:cNvSpPr>
          <p:nvPr>
            <p:ph type="dt" sz="half" idx="10"/>
          </p:nvPr>
        </p:nvSpPr>
        <p:spPr/>
        <p:txBody>
          <a:bodyPr rtlCol="0"/>
          <a:lstStyle/>
          <a:p>
            <a:pPr rtl="0"/>
            <a:fld id="{A3D8B0ED-B422-45EC-8249-8ADB0DE8C802}" type="datetime1">
              <a:rPr lang="fr-FR" noProof="0" smtClean="0"/>
              <a:t>18/09/2025</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299DD5A9-4EF1-497E-92EF-2D23CF305E03}" type="slidenum">
              <a:rPr lang="fr-FR" noProof="0" smtClean="0"/>
              <a:t>‹N°›</a:t>
            </a:fld>
            <a:endParaRPr lang="fr-FR" noProof="0"/>
          </a:p>
        </p:txBody>
      </p:sp>
    </p:spTree>
    <p:extLst>
      <p:ext uri="{BB962C8B-B14F-4D97-AF65-F5344CB8AC3E}">
        <p14:creationId xmlns:p14="http://schemas.microsoft.com/office/powerpoint/2010/main" val="2849935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p>
            <a:pPr rtl="0"/>
            <a:fld id="{EEE3F73C-FC1D-40B5-BA3E-563508C72F08}" type="datetime1">
              <a:rPr lang="fr-FR" noProof="0" smtClean="0"/>
              <a:t>18/09/2025</a:t>
            </a:fld>
            <a:endParaRPr lang="fr-FR" noProof="0"/>
          </a:p>
        </p:txBody>
      </p:sp>
      <p:sp>
        <p:nvSpPr>
          <p:cNvPr id="3" name="Espace réservé du pied de page 2"/>
          <p:cNvSpPr>
            <a:spLocks noGrp="1"/>
          </p:cNvSpPr>
          <p:nvPr>
            <p:ph type="ftr" sz="quarter" idx="11"/>
          </p:nvPr>
        </p:nvSpPr>
        <p:spPr/>
        <p:txBody>
          <a:bodyPr rtlCol="0"/>
          <a:lstStyle/>
          <a:p>
            <a:pPr rtl="0"/>
            <a:endParaRPr lang="fr-FR" noProof="0"/>
          </a:p>
        </p:txBody>
      </p:sp>
      <p:sp>
        <p:nvSpPr>
          <p:cNvPr id="4" name="Espace réservé du numéro de diapositive 3"/>
          <p:cNvSpPr>
            <a:spLocks noGrp="1"/>
          </p:cNvSpPr>
          <p:nvPr>
            <p:ph type="sldNum" sz="quarter" idx="12"/>
          </p:nvPr>
        </p:nvSpPr>
        <p:spPr/>
        <p:txBody>
          <a:bodyPr rtlCol="0"/>
          <a:lstStyle/>
          <a:p>
            <a:pPr rtl="0"/>
            <a:fld id="{299DD5A9-4EF1-497E-92EF-2D23CF305E03}" type="slidenum">
              <a:rPr lang="fr-FR" noProof="0" smtClean="0"/>
              <a:t>‹N°›</a:t>
            </a:fld>
            <a:endParaRPr lang="fr-FR" noProof="0"/>
          </a:p>
        </p:txBody>
      </p:sp>
    </p:spTree>
    <p:extLst>
      <p:ext uri="{BB962C8B-B14F-4D97-AF65-F5344CB8AC3E}">
        <p14:creationId xmlns:p14="http://schemas.microsoft.com/office/powerpoint/2010/main" val="616351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7" name="Forme libre 11" title="forme d’arrière-plan festonnée droit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re 1"/>
          <p:cNvSpPr>
            <a:spLocks noGrp="1"/>
          </p:cNvSpPr>
          <p:nvPr>
            <p:ph type="title"/>
          </p:nvPr>
        </p:nvSpPr>
        <p:spPr>
          <a:xfrm>
            <a:off x="8337884" y="457199"/>
            <a:ext cx="3092115" cy="1196671"/>
          </a:xfrm>
        </p:spPr>
        <p:txBody>
          <a:bodyPr rtlCol="0" anchor="b">
            <a:normAutofit/>
          </a:bodyPr>
          <a:lstStyle>
            <a:lvl1pPr>
              <a:lnSpc>
                <a:spcPct val="100000"/>
              </a:lnSpc>
              <a:defRPr sz="1900" b="1" i="0" cap="all" spc="300" baseline="0">
                <a:solidFill>
                  <a:schemeClr val="accent1"/>
                </a:solidFill>
                <a:latin typeface="+mn-lt"/>
              </a:defRPr>
            </a:lvl1pPr>
          </a:lstStyle>
          <a:p>
            <a:pPr rtl="0"/>
            <a:r>
              <a:rPr lang="fr-FR" noProof="0"/>
              <a:t>Modifiez le style du titre</a:t>
            </a:r>
          </a:p>
        </p:txBody>
      </p:sp>
      <p:sp>
        <p:nvSpPr>
          <p:cNvPr id="3" name="Espace réservé du contenu 2"/>
          <p:cNvSpPr>
            <a:spLocks noGrp="1"/>
          </p:cNvSpPr>
          <p:nvPr>
            <p:ph idx="1" hasCustomPrompt="1"/>
          </p:nvPr>
        </p:nvSpPr>
        <p:spPr>
          <a:xfrm>
            <a:off x="765051" y="920377"/>
            <a:ext cx="6158418" cy="4985124"/>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p:cNvSpPr>
            <a:spLocks noGrp="1"/>
          </p:cNvSpPr>
          <p:nvPr>
            <p:ph type="body" sz="half" idx="2" hasCustomPrompt="1"/>
          </p:nvPr>
        </p:nvSpPr>
        <p:spPr>
          <a:xfrm>
            <a:off x="8337885" y="1741336"/>
            <a:ext cx="3092115" cy="4164164"/>
          </a:xfrm>
        </p:spPr>
        <p:txBody>
          <a:bodyPr rtlCol="0"/>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5" name="Espace réservé de la date 4"/>
          <p:cNvSpPr>
            <a:spLocks noGrp="1"/>
          </p:cNvSpPr>
          <p:nvPr>
            <p:ph type="dt" sz="half" idx="10"/>
          </p:nvPr>
        </p:nvSpPr>
        <p:spPr>
          <a:xfrm>
            <a:off x="765051" y="6375679"/>
            <a:ext cx="1233355" cy="348462"/>
          </a:xfrm>
        </p:spPr>
        <p:txBody>
          <a:bodyPr rtlCol="0"/>
          <a:lstStyle/>
          <a:p>
            <a:pPr rtl="0"/>
            <a:fld id="{95DE4AE4-6CF0-4BDA-B551-E949200E5028}" type="datetime1">
              <a:rPr lang="fr-FR" noProof="0" smtClean="0"/>
              <a:t>18/09/2025</a:t>
            </a:fld>
            <a:endParaRPr lang="fr-FR" noProof="0"/>
          </a:p>
        </p:txBody>
      </p:sp>
      <p:sp>
        <p:nvSpPr>
          <p:cNvPr id="6" name="Espace réservé du pied de page 5"/>
          <p:cNvSpPr>
            <a:spLocks noGrp="1"/>
          </p:cNvSpPr>
          <p:nvPr>
            <p:ph type="ftr" sz="quarter" idx="11"/>
          </p:nvPr>
        </p:nvSpPr>
        <p:spPr>
          <a:xfrm>
            <a:off x="2103620" y="6375679"/>
            <a:ext cx="3482179" cy="345796"/>
          </a:xfrm>
        </p:spPr>
        <p:txBody>
          <a:bodyPr rtlCol="0"/>
          <a:lstStyle/>
          <a:p>
            <a:pPr rtl="0"/>
            <a:endParaRPr lang="fr-FR" noProof="0"/>
          </a:p>
        </p:txBody>
      </p:sp>
      <p:sp>
        <p:nvSpPr>
          <p:cNvPr id="7" name="Espace réservé du numéro de diapositive 6"/>
          <p:cNvSpPr>
            <a:spLocks noGrp="1"/>
          </p:cNvSpPr>
          <p:nvPr>
            <p:ph type="sldNum" sz="quarter" idx="12"/>
          </p:nvPr>
        </p:nvSpPr>
        <p:spPr>
          <a:xfrm>
            <a:off x="5691014" y="6375679"/>
            <a:ext cx="1232456" cy="345796"/>
          </a:xfrm>
        </p:spPr>
        <p:txBody>
          <a:bodyPr rtlCol="0"/>
          <a:lstStyle/>
          <a:p>
            <a:pPr rtl="0"/>
            <a:fld id="{299DD5A9-4EF1-497E-92EF-2D23CF305E03}" type="slidenum">
              <a:rPr lang="fr-FR" noProof="0" smtClean="0"/>
              <a:t>‹N°›</a:t>
            </a:fld>
            <a:endParaRPr lang="fr-FR" noProof="0"/>
          </a:p>
        </p:txBody>
      </p:sp>
      <p:sp>
        <p:nvSpPr>
          <p:cNvPr id="8" name="Rectangle 7" title="bordure du bord gauche"/>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8863721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3" name="Espace réservé d’image 2"/>
          <p:cNvSpPr>
            <a:spLocks noGrp="1" noChangeAspect="1"/>
          </p:cNvSpPr>
          <p:nvPr>
            <p:ph type="pic" idx="1" hasCustomPrompt="1"/>
          </p:nvPr>
        </p:nvSpPr>
        <p:spPr>
          <a:xfrm>
            <a:off x="283464" y="0"/>
            <a:ext cx="7355585" cy="6857999"/>
          </a:xfrm>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1" name="Forme libre 11" title="forme d’arrière-plan festonnée droit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bordure du bord gauche"/>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title"/>
          </p:nvPr>
        </p:nvSpPr>
        <p:spPr>
          <a:xfrm>
            <a:off x="8337883" y="457200"/>
            <a:ext cx="3092117" cy="1196670"/>
          </a:xfrm>
        </p:spPr>
        <p:txBody>
          <a:bodyPr rtlCol="0" anchor="b">
            <a:normAutofit/>
          </a:bodyPr>
          <a:lstStyle>
            <a:lvl1pPr>
              <a:lnSpc>
                <a:spcPct val="100000"/>
              </a:lnSpc>
              <a:defRPr sz="1900" b="1" i="0" spc="300" baseline="0">
                <a:solidFill>
                  <a:schemeClr val="accent1"/>
                </a:solidFill>
                <a:latin typeface="+mn-lt"/>
              </a:defRPr>
            </a:lvl1pPr>
          </a:lstStyle>
          <a:p>
            <a:pPr rtl="0"/>
            <a:r>
              <a:rPr lang="fr-FR" noProof="0"/>
              <a:t>Modifiez le style du titre</a:t>
            </a:r>
          </a:p>
        </p:txBody>
      </p:sp>
      <p:sp>
        <p:nvSpPr>
          <p:cNvPr id="4" name="Espace réservé du texte 3"/>
          <p:cNvSpPr>
            <a:spLocks noGrp="1"/>
          </p:cNvSpPr>
          <p:nvPr>
            <p:ph type="body" sz="half" idx="2" hasCustomPrompt="1"/>
          </p:nvPr>
        </p:nvSpPr>
        <p:spPr>
          <a:xfrm>
            <a:off x="8337883" y="1741336"/>
            <a:ext cx="3092117" cy="4164164"/>
          </a:xfrm>
        </p:spPr>
        <p:txBody>
          <a:bodyPr rtlCol="0"/>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5" name="Espace réservé de la date 4"/>
          <p:cNvSpPr>
            <a:spLocks noGrp="1"/>
          </p:cNvSpPr>
          <p:nvPr>
            <p:ph type="dt" sz="half" idx="10"/>
          </p:nvPr>
        </p:nvSpPr>
        <p:spPr>
          <a:xfrm>
            <a:off x="765950" y="6375679"/>
            <a:ext cx="1232456" cy="348462"/>
          </a:xfrm>
        </p:spPr>
        <p:txBody>
          <a:bodyPr rtlCol="0"/>
          <a:lstStyle/>
          <a:p>
            <a:pPr rtl="0"/>
            <a:fld id="{960F4CF5-4F20-4653-887B-EA8346817E4F}" type="datetime1">
              <a:rPr lang="fr-FR" noProof="0" smtClean="0"/>
              <a:t>18/09/2025</a:t>
            </a:fld>
            <a:endParaRPr lang="fr-FR" noProof="0"/>
          </a:p>
        </p:txBody>
      </p:sp>
      <p:sp>
        <p:nvSpPr>
          <p:cNvPr id="6" name="Espace réservé du pied de page 5"/>
          <p:cNvSpPr>
            <a:spLocks noGrp="1"/>
          </p:cNvSpPr>
          <p:nvPr>
            <p:ph type="ftr" sz="quarter" idx="11"/>
          </p:nvPr>
        </p:nvSpPr>
        <p:spPr>
          <a:xfrm>
            <a:off x="2103621" y="6375679"/>
            <a:ext cx="3482178" cy="345796"/>
          </a:xfrm>
        </p:spPr>
        <p:txBody>
          <a:bodyPr rtlCol="0"/>
          <a:lstStyle/>
          <a:p>
            <a:pPr rtl="0"/>
            <a:endParaRPr lang="fr-FR" noProof="0"/>
          </a:p>
        </p:txBody>
      </p:sp>
      <p:sp>
        <p:nvSpPr>
          <p:cNvPr id="7" name="Espace réservé du numéro de diapositive 6"/>
          <p:cNvSpPr>
            <a:spLocks noGrp="1"/>
          </p:cNvSpPr>
          <p:nvPr>
            <p:ph type="sldNum" sz="quarter" idx="12"/>
          </p:nvPr>
        </p:nvSpPr>
        <p:spPr>
          <a:xfrm>
            <a:off x="5687568" y="6375679"/>
            <a:ext cx="1234440" cy="345796"/>
          </a:xfrm>
        </p:spPr>
        <p:txBody>
          <a:bodyPr rtlCol="0"/>
          <a:lstStyle/>
          <a:p>
            <a:pPr rtl="0"/>
            <a:fld id="{299DD5A9-4EF1-497E-92EF-2D23CF305E03}" type="slidenum">
              <a:rPr lang="fr-FR" noProof="0" smtClean="0"/>
              <a:t>‹N°›</a:t>
            </a:fld>
            <a:endParaRPr lang="fr-FR" noProof="0"/>
          </a:p>
        </p:txBody>
      </p:sp>
    </p:spTree>
    <p:extLst>
      <p:ext uri="{BB962C8B-B14F-4D97-AF65-F5344CB8AC3E}">
        <p14:creationId xmlns:p14="http://schemas.microsoft.com/office/powerpoint/2010/main" val="753837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texte vertical 2"/>
          <p:cNvSpPr>
            <a:spLocks noGrp="1"/>
          </p:cNvSpPr>
          <p:nvPr>
            <p:ph type="body" orient="vert" idx="1" hasCustomPrompt="1"/>
          </p:nvPr>
        </p:nvSpPr>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8D7AED42-C5C0-49F4-B214-8D4A1510A150}" type="datetime1">
              <a:rPr lang="fr-FR" noProof="0" smtClean="0"/>
              <a:t>18/09/2025</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299DD5A9-4EF1-497E-92EF-2D23CF305E03}" type="slidenum">
              <a:rPr lang="fr-FR" noProof="0" smtClean="0"/>
              <a:t>‹N°›</a:t>
            </a:fld>
            <a:endParaRPr lang="fr-FR" noProof="0"/>
          </a:p>
        </p:txBody>
      </p:sp>
    </p:spTree>
    <p:extLst>
      <p:ext uri="{BB962C8B-B14F-4D97-AF65-F5344CB8AC3E}">
        <p14:creationId xmlns:p14="http://schemas.microsoft.com/office/powerpoint/2010/main" val="162219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10066321" y="382386"/>
            <a:ext cx="1492132" cy="5600404"/>
          </a:xfrm>
        </p:spPr>
        <p:txBody>
          <a:bodyPr vert="eaVert" rtlCol="0"/>
          <a:lstStyle/>
          <a:p>
            <a:pPr rtl="0"/>
            <a:r>
              <a:rPr lang="fr-FR" noProof="0"/>
              <a:t>Modifiez le style du titre</a:t>
            </a:r>
          </a:p>
        </p:txBody>
      </p:sp>
      <p:sp>
        <p:nvSpPr>
          <p:cNvPr id="3" name="Espace réservé du texte vertical 2"/>
          <p:cNvSpPr>
            <a:spLocks noGrp="1"/>
          </p:cNvSpPr>
          <p:nvPr>
            <p:ph type="body" orient="vert" idx="1" hasCustomPrompt="1"/>
          </p:nvPr>
        </p:nvSpPr>
        <p:spPr>
          <a:xfrm>
            <a:off x="1257300" y="382385"/>
            <a:ext cx="8392585" cy="5600405"/>
          </a:xfrm>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CFDAB893-C76E-405B-9AA0-B32D43C819A9}" type="datetime1">
              <a:rPr lang="fr-FR" noProof="0" smtClean="0"/>
              <a:t>18/09/2025</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299DD5A9-4EF1-497E-92EF-2D23CF305E03}" type="slidenum">
              <a:rPr lang="fr-FR" noProof="0" smtClean="0"/>
              <a:t>‹N°›</a:t>
            </a:fld>
            <a:endParaRPr lang="fr-FR" noProof="0"/>
          </a:p>
        </p:txBody>
      </p:sp>
    </p:spTree>
    <p:extLst>
      <p:ext uri="{BB962C8B-B14F-4D97-AF65-F5344CB8AC3E}">
        <p14:creationId xmlns:p14="http://schemas.microsoft.com/office/powerpoint/2010/main" val="3383596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pPr rtl="0"/>
            <a:r>
              <a:rPr lang="fr-FR" noProof="0"/>
              <a:t>Modifiez le style du titre</a:t>
            </a:r>
          </a:p>
        </p:txBody>
      </p:sp>
      <p:sp>
        <p:nvSpPr>
          <p:cNvPr id="3" name="Espace réservé du texte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pPr rtl="0"/>
            <a:fld id="{FBF76881-5072-40C7-8506-FDA666A93581}" type="datetime1">
              <a:rPr lang="fr-FR" noProof="0" smtClean="0"/>
              <a:t>18/09/2025</a:t>
            </a:fld>
            <a:endParaRPr lang="fr-FR" noProof="0"/>
          </a:p>
        </p:txBody>
      </p:sp>
      <p:sp>
        <p:nvSpPr>
          <p:cNvPr id="5" name="Espace réservé du pied de page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pPr rtl="0"/>
            <a:endParaRPr lang="fr-FR" noProof="0"/>
          </a:p>
        </p:txBody>
      </p:sp>
      <p:sp>
        <p:nvSpPr>
          <p:cNvPr id="6" name="Espace réservé du numéro de diapositive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pPr rtl="0"/>
            <a:fld id="{299DD5A9-4EF1-497E-92EF-2D23CF305E03}" type="slidenum">
              <a:rPr lang="fr-FR" noProof="0" smtClean="0"/>
              <a:t>‹N°›</a:t>
            </a:fld>
            <a:endParaRPr lang="fr-FR" noProof="0"/>
          </a:p>
        </p:txBody>
      </p:sp>
      <p:sp>
        <p:nvSpPr>
          <p:cNvPr id="11" name="Forme libre 6" title="Bordure festonnée gauch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bordure du bord droit"/>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180720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4188DD-3717-47D0-B979-D111D81B46AA}"/>
              </a:ext>
            </a:extLst>
          </p:cNvPr>
          <p:cNvSpPr>
            <a:spLocks noGrp="1"/>
          </p:cNvSpPr>
          <p:nvPr>
            <p:ph type="ctrTitle"/>
          </p:nvPr>
        </p:nvSpPr>
        <p:spPr>
          <a:xfrm>
            <a:off x="1078523" y="333373"/>
            <a:ext cx="10318418" cy="5747831"/>
          </a:xfrm>
        </p:spPr>
        <p:txBody>
          <a:bodyPr rtlCol="0"/>
          <a:lstStyle/>
          <a:p>
            <a:pPr rtl="0"/>
            <a:r>
              <a:rPr lang="fr-FR" sz="4800" b="1" dirty="0">
                <a:solidFill>
                  <a:srgbClr val="002060"/>
                </a:solidFill>
                <a:latin typeface="Bahnschrift" panose="020B0502040204020203" pitchFamily="34" charset="0"/>
              </a:rPr>
              <a:t>INSTITUT SUPERIEUR DE STATISTIQUE D’</a:t>
            </a:r>
            <a:r>
              <a:rPr lang="fr-FR" sz="4800" b="1" dirty="0" err="1">
                <a:solidFill>
                  <a:srgbClr val="002060"/>
                </a:solidFill>
                <a:latin typeface="Bahnschrift" panose="020B0502040204020203" pitchFamily="34" charset="0"/>
              </a:rPr>
              <a:t>econometrie</a:t>
            </a:r>
            <a:r>
              <a:rPr lang="fr-FR" sz="4800" b="1" dirty="0">
                <a:solidFill>
                  <a:srgbClr val="002060"/>
                </a:solidFill>
                <a:latin typeface="Bahnschrift" panose="020B0502040204020203" pitchFamily="34" charset="0"/>
              </a:rPr>
              <a:t> et de data scie</a:t>
            </a:r>
            <a:r>
              <a:rPr lang="fr-FR" sz="4800" dirty="0">
                <a:solidFill>
                  <a:srgbClr val="002060"/>
                </a:solidFill>
                <a:latin typeface="Bahnschrift" panose="020B0502040204020203" pitchFamily="34" charset="0"/>
              </a:rPr>
              <a:t>nce(insseds)</a:t>
            </a:r>
          </a:p>
        </p:txBody>
      </p:sp>
    </p:spTree>
    <p:extLst>
      <p:ext uri="{BB962C8B-B14F-4D97-AF65-F5344CB8AC3E}">
        <p14:creationId xmlns:p14="http://schemas.microsoft.com/office/powerpoint/2010/main" val="1957017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DAE078-3CB3-4D1F-8E4E-75C6D5DA8D1A}"/>
              </a:ext>
            </a:extLst>
          </p:cNvPr>
          <p:cNvSpPr>
            <a:spLocks noGrp="1"/>
          </p:cNvSpPr>
          <p:nvPr>
            <p:ph type="title"/>
          </p:nvPr>
        </p:nvSpPr>
        <p:spPr>
          <a:xfrm>
            <a:off x="901520" y="1712890"/>
            <a:ext cx="11050073" cy="3541690"/>
          </a:xfrm>
        </p:spPr>
        <p:txBody>
          <a:bodyPr rtlCol="0">
            <a:normAutofit/>
          </a:bodyPr>
          <a:lstStyle/>
          <a:p>
            <a:pPr algn="ctr"/>
            <a:r>
              <a:rPr lang="fr-FR" sz="4000" b="1" dirty="0">
                <a:solidFill>
                  <a:srgbClr val="FFC000"/>
                </a:solidFill>
                <a:latin typeface="Arial Black" panose="020B0A04020102020204" pitchFamily="34" charset="0"/>
              </a:rPr>
              <a:t>Modélisation de l'exposition en cas de défaut (EAD) par le facteur de conversion de crédit (CCF)</a:t>
            </a:r>
            <a:br>
              <a:rPr lang="fr-FR" sz="4000" dirty="0">
                <a:solidFill>
                  <a:srgbClr val="FFC000"/>
                </a:solidFill>
                <a:latin typeface="Arial Black" panose="020B0A04020102020204" pitchFamily="34" charset="0"/>
              </a:rPr>
            </a:br>
            <a:endParaRPr lang="fr-FR" sz="4000" dirty="0">
              <a:solidFill>
                <a:srgbClr val="FFC000"/>
              </a:solidFill>
              <a:latin typeface="Arial Black" panose="020B0A04020102020204" pitchFamily="34" charset="0"/>
            </a:endParaRPr>
          </a:p>
        </p:txBody>
      </p:sp>
    </p:spTree>
    <p:extLst>
      <p:ext uri="{BB962C8B-B14F-4D97-AF65-F5344CB8AC3E}">
        <p14:creationId xmlns:p14="http://schemas.microsoft.com/office/powerpoint/2010/main" val="1040409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38657A-8B7E-4B6C-A10E-806AE7B7F95B}"/>
              </a:ext>
            </a:extLst>
          </p:cNvPr>
          <p:cNvSpPr>
            <a:spLocks noGrp="1"/>
          </p:cNvSpPr>
          <p:nvPr>
            <p:ph type="title"/>
          </p:nvPr>
        </p:nvSpPr>
        <p:spPr>
          <a:xfrm>
            <a:off x="4237149" y="343748"/>
            <a:ext cx="4765183" cy="725198"/>
          </a:xfrm>
        </p:spPr>
        <p:txBody>
          <a:bodyPr rtlCol="0">
            <a:normAutofit fontScale="90000"/>
          </a:bodyPr>
          <a:lstStyle/>
          <a:p>
            <a:pPr algn="ctr"/>
            <a:r>
              <a:rPr lang="fr-FR" sz="4000" b="1" dirty="0">
                <a:solidFill>
                  <a:srgbClr val="FFC000"/>
                </a:solidFill>
                <a:latin typeface="Algerian" panose="04020705040A02060702" pitchFamily="82" charset="0"/>
              </a:rPr>
              <a:t>PLAN</a:t>
            </a:r>
            <a:br>
              <a:rPr lang="fr-FR" sz="4000" b="1" dirty="0">
                <a:solidFill>
                  <a:srgbClr val="FFC000"/>
                </a:solidFill>
                <a:latin typeface="Algerian" panose="04020705040A02060702" pitchFamily="82" charset="0"/>
              </a:rPr>
            </a:br>
            <a:endParaRPr lang="fr-FR" sz="4000" dirty="0">
              <a:solidFill>
                <a:srgbClr val="FFC000"/>
              </a:solidFill>
              <a:latin typeface="Algerian" panose="04020705040A02060702" pitchFamily="82" charset="0"/>
            </a:endParaRPr>
          </a:p>
        </p:txBody>
      </p:sp>
      <p:sp>
        <p:nvSpPr>
          <p:cNvPr id="3" name="Espace réservé du contenu 2">
            <a:extLst>
              <a:ext uri="{FF2B5EF4-FFF2-40B4-BE49-F238E27FC236}">
                <a16:creationId xmlns:a16="http://schemas.microsoft.com/office/drawing/2014/main" id="{5E50C1E8-A3C4-4E79-8384-A72C2430432A}"/>
              </a:ext>
            </a:extLst>
          </p:cNvPr>
          <p:cNvSpPr>
            <a:spLocks noGrp="1"/>
          </p:cNvSpPr>
          <p:nvPr>
            <p:ph idx="1"/>
          </p:nvPr>
        </p:nvSpPr>
        <p:spPr>
          <a:xfrm>
            <a:off x="1251677" y="1661376"/>
            <a:ext cx="10712795" cy="5209504"/>
          </a:xfrm>
        </p:spPr>
        <p:txBody>
          <a:bodyPr rtlCol="0">
            <a:normAutofit lnSpcReduction="10000"/>
          </a:bodyPr>
          <a:lstStyle/>
          <a:p>
            <a:pPr marL="0" indent="0">
              <a:buNone/>
            </a:pPr>
            <a:r>
              <a:rPr lang="fr-FR" dirty="0">
                <a:solidFill>
                  <a:srgbClr val="002060"/>
                </a:solidFill>
                <a:latin typeface="Constantia" panose="02030602050306030303" pitchFamily="18" charset="0"/>
              </a:rPr>
              <a:t>INTRODUCTION</a:t>
            </a:r>
          </a:p>
          <a:p>
            <a:pPr marL="457200" indent="-457200">
              <a:buAutoNum type="arabicPeriod"/>
            </a:pPr>
            <a:r>
              <a:rPr lang="fr-FR" b="1" dirty="0">
                <a:solidFill>
                  <a:srgbClr val="FFC000"/>
                </a:solidFill>
                <a:latin typeface="Constantia" panose="02030602050306030303" pitchFamily="18" charset="0"/>
              </a:rPr>
              <a:t>Définition et concepts clés</a:t>
            </a:r>
          </a:p>
          <a:p>
            <a:pPr marL="457200" indent="-457200">
              <a:buAutoNum type="arabicPeriod"/>
            </a:pPr>
            <a:r>
              <a:rPr lang="fr-FR" b="1" dirty="0">
                <a:solidFill>
                  <a:srgbClr val="FFC000"/>
                </a:solidFill>
                <a:latin typeface="Constantia" panose="02030602050306030303" pitchFamily="18" charset="0"/>
              </a:rPr>
              <a:t> Importance de la modélisation de l’EAD par le CCF</a:t>
            </a:r>
          </a:p>
          <a:p>
            <a:pPr marL="457200" indent="-457200">
              <a:buAutoNum type="arabicPeriod"/>
            </a:pPr>
            <a:r>
              <a:rPr lang="fr-FR" b="1" dirty="0">
                <a:solidFill>
                  <a:srgbClr val="FFC000"/>
                </a:solidFill>
                <a:latin typeface="Constantia" panose="02030602050306030303" pitchFamily="18" charset="0"/>
              </a:rPr>
              <a:t> Modélisation statistique de l’EAD en fonction du CCF</a:t>
            </a:r>
          </a:p>
          <a:p>
            <a:pPr marL="0" indent="0">
              <a:buNone/>
            </a:pPr>
            <a:r>
              <a:rPr lang="fr-FR" b="1" dirty="0">
                <a:solidFill>
                  <a:srgbClr val="002060"/>
                </a:solidFill>
                <a:latin typeface="Constantia" panose="02030602050306030303" pitchFamily="18" charset="0"/>
              </a:rPr>
              <a:t>3.1. </a:t>
            </a:r>
            <a:r>
              <a:rPr lang="fr-FR" b="1" dirty="0">
                <a:solidFill>
                  <a:srgbClr val="FFC000"/>
                </a:solidFill>
                <a:latin typeface="Constantia" panose="02030602050306030303" pitchFamily="18" charset="0"/>
              </a:rPr>
              <a:t>Modélisation statistique de l’EAD en fonction du CCF</a:t>
            </a:r>
          </a:p>
          <a:p>
            <a:pPr marL="0" indent="0">
              <a:buNone/>
            </a:pPr>
            <a:r>
              <a:rPr lang="fr-FR" b="1" dirty="0">
                <a:solidFill>
                  <a:srgbClr val="002060"/>
                </a:solidFill>
                <a:latin typeface="Constantia" panose="02030602050306030303" pitchFamily="18" charset="0"/>
              </a:rPr>
              <a:t>3.2</a:t>
            </a:r>
            <a:r>
              <a:rPr lang="fr-FR" b="1" dirty="0">
                <a:solidFill>
                  <a:srgbClr val="FFC000"/>
                </a:solidFill>
                <a:latin typeface="Constantia" panose="02030602050306030303" pitchFamily="18" charset="0"/>
              </a:rPr>
              <a:t> Interprétation des résultats</a:t>
            </a:r>
          </a:p>
          <a:p>
            <a:pPr marL="0" indent="0">
              <a:buNone/>
            </a:pPr>
            <a:r>
              <a:rPr lang="fr-FR" b="1" dirty="0">
                <a:solidFill>
                  <a:srgbClr val="002060"/>
                </a:solidFill>
                <a:latin typeface="Constantia" panose="02030602050306030303" pitchFamily="18" charset="0"/>
              </a:rPr>
              <a:t>3.3  </a:t>
            </a:r>
            <a:r>
              <a:rPr lang="fr-FR" b="1" dirty="0">
                <a:solidFill>
                  <a:srgbClr val="FFC000"/>
                </a:solidFill>
                <a:latin typeface="Constantia" panose="02030602050306030303" pitchFamily="18" charset="0"/>
              </a:rPr>
              <a:t>illustration graphique</a:t>
            </a:r>
          </a:p>
          <a:p>
            <a:pPr marL="0" indent="0">
              <a:buNone/>
            </a:pPr>
            <a:r>
              <a:rPr lang="fr-FR" b="1" dirty="0">
                <a:solidFill>
                  <a:srgbClr val="002060"/>
                </a:solidFill>
                <a:latin typeface="Constantia" panose="02030602050306030303" pitchFamily="18" charset="0"/>
              </a:rPr>
              <a:t>4.</a:t>
            </a:r>
            <a:r>
              <a:rPr lang="fr-FR" b="1" dirty="0">
                <a:solidFill>
                  <a:srgbClr val="FFC000"/>
                </a:solidFill>
                <a:latin typeface="Constantia" panose="02030602050306030303" pitchFamily="18" charset="0"/>
              </a:rPr>
              <a:t> Conclusion</a:t>
            </a:r>
          </a:p>
          <a:p>
            <a:pPr marL="0" indent="0">
              <a:buNone/>
            </a:pPr>
            <a:endParaRPr lang="fr-FR" b="1" dirty="0">
              <a:solidFill>
                <a:srgbClr val="FFC000"/>
              </a:solidFill>
              <a:latin typeface="Constantia" panose="02030602050306030303" pitchFamily="18" charset="0"/>
            </a:endParaRPr>
          </a:p>
          <a:p>
            <a:pPr marL="0" indent="0">
              <a:buNone/>
            </a:pPr>
            <a:br>
              <a:rPr lang="fr-FR" b="1" dirty="0">
                <a:solidFill>
                  <a:srgbClr val="FFC000"/>
                </a:solidFill>
                <a:latin typeface="Constantia" panose="02030602050306030303" pitchFamily="18" charset="0"/>
              </a:rPr>
            </a:br>
            <a:br>
              <a:rPr lang="fr-FR" b="1" dirty="0">
                <a:solidFill>
                  <a:srgbClr val="FFC000"/>
                </a:solidFill>
                <a:latin typeface="Constantia" panose="02030602050306030303" pitchFamily="18" charset="0"/>
              </a:rPr>
            </a:br>
            <a:br>
              <a:rPr lang="fr-FR" b="1" dirty="0">
                <a:solidFill>
                  <a:srgbClr val="FFC000"/>
                </a:solidFill>
                <a:latin typeface="Constantia" panose="02030602050306030303" pitchFamily="18" charset="0"/>
              </a:rPr>
            </a:br>
            <a:endParaRPr lang="fr-FR" dirty="0">
              <a:solidFill>
                <a:srgbClr val="002060"/>
              </a:solidFill>
              <a:latin typeface="Constantia" panose="02030602050306030303" pitchFamily="18" charset="0"/>
            </a:endParaRPr>
          </a:p>
        </p:txBody>
      </p:sp>
    </p:spTree>
    <p:extLst>
      <p:ext uri="{BB962C8B-B14F-4D97-AF65-F5344CB8AC3E}">
        <p14:creationId xmlns:p14="http://schemas.microsoft.com/office/powerpoint/2010/main" val="4163875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38657A-8B7E-4B6C-A10E-806AE7B7F95B}"/>
              </a:ext>
            </a:extLst>
          </p:cNvPr>
          <p:cNvSpPr>
            <a:spLocks noGrp="1"/>
          </p:cNvSpPr>
          <p:nvPr>
            <p:ph type="title"/>
          </p:nvPr>
        </p:nvSpPr>
        <p:spPr>
          <a:xfrm>
            <a:off x="4237149" y="343748"/>
            <a:ext cx="4765183" cy="725198"/>
          </a:xfrm>
        </p:spPr>
        <p:txBody>
          <a:bodyPr rtlCol="0">
            <a:normAutofit fontScale="90000"/>
          </a:bodyPr>
          <a:lstStyle/>
          <a:p>
            <a:pPr algn="ctr"/>
            <a:r>
              <a:rPr lang="fr-FR" sz="4000" b="1" dirty="0">
                <a:solidFill>
                  <a:srgbClr val="FFC000"/>
                </a:solidFill>
                <a:latin typeface="Algerian" panose="04020705040A02060702" pitchFamily="82" charset="0"/>
              </a:rPr>
              <a:t>Introduction</a:t>
            </a:r>
            <a:br>
              <a:rPr lang="fr-FR" sz="4000" b="1" dirty="0">
                <a:solidFill>
                  <a:srgbClr val="FFC000"/>
                </a:solidFill>
                <a:latin typeface="Algerian" panose="04020705040A02060702" pitchFamily="82" charset="0"/>
              </a:rPr>
            </a:br>
            <a:endParaRPr lang="fr-FR" sz="4000" dirty="0">
              <a:solidFill>
                <a:srgbClr val="FFC000"/>
              </a:solidFill>
              <a:latin typeface="Algerian" panose="04020705040A02060702" pitchFamily="82" charset="0"/>
            </a:endParaRPr>
          </a:p>
        </p:txBody>
      </p:sp>
      <p:sp>
        <p:nvSpPr>
          <p:cNvPr id="3" name="Espace réservé du contenu 2">
            <a:extLst>
              <a:ext uri="{FF2B5EF4-FFF2-40B4-BE49-F238E27FC236}">
                <a16:creationId xmlns:a16="http://schemas.microsoft.com/office/drawing/2014/main" id="{5E50C1E8-A3C4-4E79-8384-A72C2430432A}"/>
              </a:ext>
            </a:extLst>
          </p:cNvPr>
          <p:cNvSpPr>
            <a:spLocks noGrp="1"/>
          </p:cNvSpPr>
          <p:nvPr>
            <p:ph idx="1"/>
          </p:nvPr>
        </p:nvSpPr>
        <p:spPr>
          <a:xfrm>
            <a:off x="1251677" y="1648497"/>
            <a:ext cx="10712795" cy="5209504"/>
          </a:xfrm>
        </p:spPr>
        <p:txBody>
          <a:bodyPr rtlCol="0">
            <a:normAutofit/>
          </a:bodyPr>
          <a:lstStyle/>
          <a:p>
            <a:pPr marL="0" indent="0">
              <a:buNone/>
            </a:pPr>
            <a:r>
              <a:rPr lang="fr-FR" dirty="0">
                <a:solidFill>
                  <a:srgbClr val="002060"/>
                </a:solidFill>
                <a:latin typeface="Constantia" panose="02030602050306030303" pitchFamily="18" charset="0"/>
              </a:rPr>
              <a:t>Dans le domaine bancaire et financier, la gestion du risque de crédit est essentielle pour assurer la stabilité des institutions. L’un des outils fondamentaux utilisés pour estimer ce risque est l’</a:t>
            </a:r>
            <a:r>
              <a:rPr lang="fr-FR" b="1" dirty="0">
                <a:solidFill>
                  <a:srgbClr val="002060"/>
                </a:solidFill>
                <a:latin typeface="Constantia" panose="02030602050306030303" pitchFamily="18" charset="0"/>
              </a:rPr>
              <a:t>exposition en cas de défaut (EAD)</a:t>
            </a:r>
            <a:r>
              <a:rPr lang="fr-FR" dirty="0">
                <a:solidFill>
                  <a:srgbClr val="002060"/>
                </a:solidFill>
                <a:latin typeface="Constantia" panose="02030602050306030303" pitchFamily="18" charset="0"/>
              </a:rPr>
              <a:t>, qui représente le montant qu’une banque risque de perdre en cas de défaillance d’un emprunteur.</a:t>
            </a:r>
          </a:p>
          <a:p>
            <a:pPr marL="0" indent="0">
              <a:buNone/>
            </a:pPr>
            <a:r>
              <a:rPr lang="fr-FR" dirty="0">
                <a:solidFill>
                  <a:srgbClr val="002060"/>
                </a:solidFill>
                <a:latin typeface="Constantia" panose="02030602050306030303" pitchFamily="18" charset="0"/>
              </a:rPr>
              <a:t>Un élément clé dans le calcul de l’EAD est le </a:t>
            </a:r>
            <a:r>
              <a:rPr lang="fr-FR" b="1" dirty="0">
                <a:solidFill>
                  <a:srgbClr val="002060"/>
                </a:solidFill>
                <a:latin typeface="Constantia" panose="02030602050306030303" pitchFamily="18" charset="0"/>
              </a:rPr>
              <a:t>facteur de conversion de crédit (Crédit Conversion Factor - CCF)</a:t>
            </a:r>
            <a:r>
              <a:rPr lang="fr-FR" dirty="0">
                <a:solidFill>
                  <a:srgbClr val="002060"/>
                </a:solidFill>
                <a:latin typeface="Constantia" panose="02030602050306030303" pitchFamily="18" charset="0"/>
              </a:rPr>
              <a:t>. Ce facteur permet d’estimer la part des engagements hors-bilan qui pourraient devenir exigibles en cas de défaut.</a:t>
            </a:r>
          </a:p>
          <a:p>
            <a:pPr marL="0" indent="0">
              <a:buNone/>
            </a:pPr>
            <a:r>
              <a:rPr lang="fr-FR" dirty="0">
                <a:solidFill>
                  <a:srgbClr val="002060"/>
                </a:solidFill>
                <a:latin typeface="Constantia" panose="02030602050306030303" pitchFamily="18" charset="0"/>
              </a:rPr>
              <a:t>Cet exposé a pour objectif d’expliquer le concept du facteur de conversion de crédit, son impact sur l’exposition au défaut, et d’illustrer son application par une modélisation statistique sous R.</a:t>
            </a:r>
          </a:p>
        </p:txBody>
      </p:sp>
    </p:spTree>
    <p:extLst>
      <p:ext uri="{BB962C8B-B14F-4D97-AF65-F5344CB8AC3E}">
        <p14:creationId xmlns:p14="http://schemas.microsoft.com/office/powerpoint/2010/main" val="3397953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38657A-8B7E-4B6C-A10E-806AE7B7F95B}"/>
              </a:ext>
            </a:extLst>
          </p:cNvPr>
          <p:cNvSpPr>
            <a:spLocks noGrp="1"/>
          </p:cNvSpPr>
          <p:nvPr>
            <p:ph type="title"/>
          </p:nvPr>
        </p:nvSpPr>
        <p:spPr>
          <a:xfrm>
            <a:off x="1251677" y="240717"/>
            <a:ext cx="10178322" cy="1072928"/>
          </a:xfrm>
        </p:spPr>
        <p:txBody>
          <a:bodyPr rtlCol="0">
            <a:normAutofit/>
          </a:bodyPr>
          <a:lstStyle/>
          <a:p>
            <a:pPr algn="ctr"/>
            <a:r>
              <a:rPr lang="fr-FR" sz="3200" b="1" dirty="0">
                <a:solidFill>
                  <a:srgbClr val="FFC000"/>
                </a:solidFill>
              </a:rPr>
              <a:t>1. </a:t>
            </a:r>
            <a:r>
              <a:rPr lang="fr-FR" sz="3200" b="1" dirty="0">
                <a:solidFill>
                  <a:srgbClr val="FFC000"/>
                </a:solidFill>
                <a:latin typeface="Constantia" panose="02030602050306030303" pitchFamily="18" charset="0"/>
              </a:rPr>
              <a:t>Définition et concepts clés</a:t>
            </a:r>
            <a:endParaRPr lang="fr-FR" sz="3200" dirty="0">
              <a:solidFill>
                <a:srgbClr val="FFC000"/>
              </a:solidFill>
              <a:latin typeface="Constantia" panose="02030602050306030303" pitchFamily="18" charset="0"/>
            </a:endParaRPr>
          </a:p>
        </p:txBody>
      </p:sp>
      <p:sp>
        <p:nvSpPr>
          <p:cNvPr id="3" name="Espace réservé du contenu 2">
            <a:extLst>
              <a:ext uri="{FF2B5EF4-FFF2-40B4-BE49-F238E27FC236}">
                <a16:creationId xmlns:a16="http://schemas.microsoft.com/office/drawing/2014/main" id="{5E50C1E8-A3C4-4E79-8384-A72C2430432A}"/>
              </a:ext>
            </a:extLst>
          </p:cNvPr>
          <p:cNvSpPr>
            <a:spLocks noGrp="1"/>
          </p:cNvSpPr>
          <p:nvPr>
            <p:ph idx="1"/>
          </p:nvPr>
        </p:nvSpPr>
        <p:spPr>
          <a:xfrm>
            <a:off x="978795" y="1171978"/>
            <a:ext cx="10985678" cy="5686022"/>
          </a:xfrm>
        </p:spPr>
        <p:txBody>
          <a:bodyPr rtlCol="0">
            <a:noAutofit/>
          </a:bodyPr>
          <a:lstStyle/>
          <a:p>
            <a:r>
              <a:rPr lang="fr-FR" dirty="0">
                <a:solidFill>
                  <a:srgbClr val="002060"/>
                </a:solidFill>
              </a:rPr>
              <a:t>Le </a:t>
            </a:r>
            <a:r>
              <a:rPr lang="fr-FR" b="1" dirty="0">
                <a:solidFill>
                  <a:srgbClr val="002060"/>
                </a:solidFill>
              </a:rPr>
              <a:t>facteur de conversion de crédit (CCF)</a:t>
            </a:r>
            <a:r>
              <a:rPr lang="fr-FR" dirty="0">
                <a:solidFill>
                  <a:srgbClr val="002060"/>
                </a:solidFill>
              </a:rPr>
              <a:t> est un coefficient appliqué aux engagements hors-bilan pour estimer leur probabilité de transformation en engagements exigibles. Il est particulièrement utilisé dans le cadre des accords de Bâle pour évaluer l’exposition au risque de crédit.</a:t>
            </a:r>
          </a:p>
          <a:p>
            <a:pPr marL="0" indent="0">
              <a:buNone/>
            </a:pPr>
            <a:r>
              <a:rPr lang="fr-FR" dirty="0">
                <a:solidFill>
                  <a:srgbClr val="002060"/>
                </a:solidFill>
              </a:rPr>
              <a:t>Les </a:t>
            </a:r>
            <a:r>
              <a:rPr lang="fr-FR" b="1" dirty="0">
                <a:solidFill>
                  <a:srgbClr val="002060"/>
                </a:solidFill>
              </a:rPr>
              <a:t>engagements hors-bilan</a:t>
            </a:r>
            <a:r>
              <a:rPr lang="fr-FR" dirty="0">
                <a:solidFill>
                  <a:srgbClr val="002060"/>
                </a:solidFill>
              </a:rPr>
              <a:t> incluent :</a:t>
            </a:r>
          </a:p>
          <a:p>
            <a:r>
              <a:rPr lang="fr-FR" dirty="0">
                <a:solidFill>
                  <a:srgbClr val="002060"/>
                </a:solidFill>
              </a:rPr>
              <a:t>Les lignes de crédit non utilisées,</a:t>
            </a:r>
          </a:p>
          <a:p>
            <a:r>
              <a:rPr lang="fr-FR" dirty="0">
                <a:solidFill>
                  <a:srgbClr val="002060"/>
                </a:solidFill>
              </a:rPr>
              <a:t>Les garanties bancaires,</a:t>
            </a:r>
          </a:p>
          <a:p>
            <a:r>
              <a:rPr lang="fr-FR" dirty="0">
                <a:solidFill>
                  <a:srgbClr val="002060"/>
                </a:solidFill>
              </a:rPr>
              <a:t>Les lettres de crédit.</a:t>
            </a:r>
          </a:p>
          <a:p>
            <a:r>
              <a:rPr lang="fr-FR" dirty="0">
                <a:solidFill>
                  <a:srgbClr val="002060"/>
                </a:solidFill>
              </a:rPr>
              <a:t>La formule générale permettant de calculer l’EAD est la suivante :</a:t>
            </a:r>
          </a:p>
          <a:p>
            <a:r>
              <a:rPr lang="fr-FR" dirty="0">
                <a:solidFill>
                  <a:srgbClr val="002060"/>
                </a:solidFill>
              </a:rPr>
              <a:t>Où : EAD =CCF * Engagement Hors Bilan</a:t>
            </a:r>
          </a:p>
          <a:p>
            <a:endParaRPr lang="fr-FR" dirty="0">
              <a:solidFill>
                <a:srgbClr val="002060"/>
              </a:solidFill>
            </a:endParaRPr>
          </a:p>
          <a:p>
            <a:r>
              <a:rPr lang="fr-FR" b="1" dirty="0">
                <a:solidFill>
                  <a:srgbClr val="002060"/>
                </a:solidFill>
              </a:rPr>
              <a:t>EAD (Exposure at Default)</a:t>
            </a:r>
            <a:r>
              <a:rPr lang="fr-FR" dirty="0">
                <a:solidFill>
                  <a:srgbClr val="002060"/>
                </a:solidFill>
              </a:rPr>
              <a:t> représente l’exposition en cas de défaut,</a:t>
            </a:r>
          </a:p>
          <a:p>
            <a:r>
              <a:rPr lang="fr-FR" b="1" dirty="0">
                <a:solidFill>
                  <a:srgbClr val="002060"/>
                </a:solidFill>
              </a:rPr>
              <a:t>CCF (Credit Conversion Factor)</a:t>
            </a:r>
            <a:r>
              <a:rPr lang="fr-FR" dirty="0">
                <a:solidFill>
                  <a:srgbClr val="002060"/>
                </a:solidFill>
              </a:rPr>
              <a:t> est le facteur de conversion du crédit,</a:t>
            </a:r>
          </a:p>
          <a:p>
            <a:r>
              <a:rPr lang="fr-FR" b="1" dirty="0">
                <a:solidFill>
                  <a:srgbClr val="002060"/>
                </a:solidFill>
              </a:rPr>
              <a:t>Engagements hors bilan</a:t>
            </a:r>
            <a:r>
              <a:rPr lang="fr-FR" dirty="0">
                <a:solidFill>
                  <a:srgbClr val="002060"/>
                </a:solidFill>
              </a:rPr>
              <a:t> correspondent aux montants engagés mais non encore exigibles.</a:t>
            </a:r>
          </a:p>
        </p:txBody>
      </p:sp>
    </p:spTree>
    <p:extLst>
      <p:ext uri="{BB962C8B-B14F-4D97-AF65-F5344CB8AC3E}">
        <p14:creationId xmlns:p14="http://schemas.microsoft.com/office/powerpoint/2010/main" val="463697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CDC4A3-530D-433A-956F-BDFFF54367FD}"/>
              </a:ext>
            </a:extLst>
          </p:cNvPr>
          <p:cNvSpPr>
            <a:spLocks noGrp="1"/>
          </p:cNvSpPr>
          <p:nvPr>
            <p:ph type="title"/>
          </p:nvPr>
        </p:nvSpPr>
        <p:spPr>
          <a:xfrm>
            <a:off x="1416676" y="382385"/>
            <a:ext cx="8371268" cy="1492132"/>
          </a:xfrm>
        </p:spPr>
        <p:txBody>
          <a:bodyPr rtlCol="0">
            <a:normAutofit/>
          </a:bodyPr>
          <a:lstStyle/>
          <a:p>
            <a:pPr algn="ctr"/>
            <a:r>
              <a:rPr lang="fr-FR" sz="2800" b="1" dirty="0">
                <a:solidFill>
                  <a:srgbClr val="FFC000"/>
                </a:solidFill>
                <a:latin typeface="Constantia" panose="02030602050306030303" pitchFamily="18" charset="0"/>
              </a:rPr>
              <a:t>2. Importance de la modélisation de l’EAD par le CCF</a:t>
            </a:r>
            <a:br>
              <a:rPr lang="fr-FR" sz="2800" b="1" dirty="0">
                <a:solidFill>
                  <a:srgbClr val="FFC000"/>
                </a:solidFill>
                <a:latin typeface="Constantia" panose="02030602050306030303" pitchFamily="18" charset="0"/>
              </a:rPr>
            </a:br>
            <a:endParaRPr lang="fr" sz="2800" dirty="0">
              <a:solidFill>
                <a:srgbClr val="FFC000"/>
              </a:solidFill>
              <a:latin typeface="Constantia" panose="02030602050306030303" pitchFamily="18" charset="0"/>
            </a:endParaRPr>
          </a:p>
        </p:txBody>
      </p:sp>
      <p:sp>
        <p:nvSpPr>
          <p:cNvPr id="3" name="Espace réservé du contenu 2">
            <a:extLst>
              <a:ext uri="{FF2B5EF4-FFF2-40B4-BE49-F238E27FC236}">
                <a16:creationId xmlns:a16="http://schemas.microsoft.com/office/drawing/2014/main" id="{01E6A7A6-EB46-4CA0-B991-935C9B9C6F26}"/>
              </a:ext>
            </a:extLst>
          </p:cNvPr>
          <p:cNvSpPr>
            <a:spLocks noGrp="1"/>
          </p:cNvSpPr>
          <p:nvPr>
            <p:ph idx="1"/>
          </p:nvPr>
        </p:nvSpPr>
        <p:spPr>
          <a:xfrm>
            <a:off x="927279" y="1571223"/>
            <a:ext cx="10109915" cy="4282612"/>
          </a:xfrm>
        </p:spPr>
        <p:txBody>
          <a:bodyPr rtlCol="0">
            <a:normAutofit/>
          </a:bodyPr>
          <a:lstStyle/>
          <a:p>
            <a:pPr marL="0" indent="0" algn="ctr">
              <a:buNone/>
            </a:pPr>
            <a:endParaRPr lang="fr-FR" b="1" dirty="0">
              <a:solidFill>
                <a:srgbClr val="002060"/>
              </a:solidFill>
              <a:latin typeface="Constantia" panose="02030602050306030303" pitchFamily="18" charset="0"/>
            </a:endParaRPr>
          </a:p>
          <a:p>
            <a:pPr marL="0" indent="0" algn="ctr">
              <a:buNone/>
            </a:pPr>
            <a:r>
              <a:rPr lang="fr-FR" dirty="0">
                <a:solidFill>
                  <a:srgbClr val="002060"/>
                </a:solidFill>
                <a:latin typeface="Constantia" panose="02030602050306030303" pitchFamily="18" charset="0"/>
              </a:rPr>
              <a:t>L’estimation précise de l’EAD est cruciale pour :</a:t>
            </a:r>
          </a:p>
          <a:p>
            <a:pPr algn="ctr"/>
            <a:r>
              <a:rPr lang="fr-FR" dirty="0">
                <a:solidFill>
                  <a:srgbClr val="002060"/>
                </a:solidFill>
                <a:latin typeface="Constantia" panose="02030602050306030303" pitchFamily="18" charset="0"/>
              </a:rPr>
              <a:t>Anticiper les risques de crédit,</a:t>
            </a:r>
          </a:p>
          <a:p>
            <a:pPr algn="ctr"/>
            <a:r>
              <a:rPr lang="fr-FR" dirty="0">
                <a:solidFill>
                  <a:srgbClr val="002060"/>
                </a:solidFill>
                <a:latin typeface="Constantia" panose="02030602050306030303" pitchFamily="18" charset="0"/>
              </a:rPr>
              <a:t>Optimiser la gestion des engagements hors-bilan.</a:t>
            </a:r>
          </a:p>
          <a:p>
            <a:pPr algn="ctr"/>
            <a:r>
              <a:rPr lang="fr-FR" dirty="0">
                <a:solidFill>
                  <a:srgbClr val="002060"/>
                </a:solidFill>
                <a:latin typeface="Constantia" panose="02030602050306030303" pitchFamily="18" charset="0"/>
              </a:rPr>
              <a:t>Ajuster les exigences en capital réglementaire des banques,</a:t>
            </a:r>
          </a:p>
          <a:p>
            <a:pPr algn="ctr"/>
            <a:r>
              <a:rPr lang="fr-FR" dirty="0">
                <a:solidFill>
                  <a:srgbClr val="002060"/>
                </a:solidFill>
                <a:latin typeface="Constantia" panose="02030602050306030303" pitchFamily="18" charset="0"/>
              </a:rPr>
              <a:t>Le CCF n’est pas fixe et peut varier selon plusieurs paramètres :</a:t>
            </a:r>
          </a:p>
          <a:p>
            <a:pPr algn="ctr"/>
            <a:r>
              <a:rPr lang="fr-FR" dirty="0">
                <a:solidFill>
                  <a:srgbClr val="002060"/>
                </a:solidFill>
                <a:latin typeface="Constantia" panose="02030602050306030303" pitchFamily="18" charset="0"/>
              </a:rPr>
              <a:t>Le type de produit financier,</a:t>
            </a:r>
          </a:p>
          <a:p>
            <a:pPr algn="ctr"/>
            <a:r>
              <a:rPr lang="fr-FR" dirty="0">
                <a:solidFill>
                  <a:srgbClr val="002060"/>
                </a:solidFill>
                <a:latin typeface="Constantia" panose="02030602050306030303" pitchFamily="18" charset="0"/>
              </a:rPr>
              <a:t>Le comportement historique des emprunteurs,</a:t>
            </a:r>
          </a:p>
          <a:p>
            <a:pPr algn="ctr"/>
            <a:r>
              <a:rPr lang="fr-FR" dirty="0">
                <a:solidFill>
                  <a:srgbClr val="002060"/>
                </a:solidFill>
                <a:latin typeface="Constantia" panose="02030602050306030303" pitchFamily="18" charset="0"/>
              </a:rPr>
              <a:t>Les conditions économiques et réglementaires</a:t>
            </a:r>
            <a:r>
              <a:rPr lang="fr-FR" dirty="0">
                <a:latin typeface="Constantia" panose="02030602050306030303" pitchFamily="18" charset="0"/>
              </a:rPr>
              <a:t>.</a:t>
            </a:r>
          </a:p>
          <a:p>
            <a:pPr marL="0" indent="0" algn="ctr" rtl="0">
              <a:buNone/>
            </a:pPr>
            <a:endParaRPr lang="en-US" spc="-30" dirty="0"/>
          </a:p>
        </p:txBody>
      </p:sp>
    </p:spTree>
    <p:extLst>
      <p:ext uri="{BB962C8B-B14F-4D97-AF65-F5344CB8AC3E}">
        <p14:creationId xmlns:p14="http://schemas.microsoft.com/office/powerpoint/2010/main" val="2430620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40183-98AF-438D-AC1C-0AF4CC28DBD3}"/>
              </a:ext>
            </a:extLst>
          </p:cNvPr>
          <p:cNvSpPr>
            <a:spLocks noGrp="1"/>
          </p:cNvSpPr>
          <p:nvPr>
            <p:ph type="title"/>
          </p:nvPr>
        </p:nvSpPr>
        <p:spPr/>
        <p:txBody>
          <a:bodyPr rtlCol="0">
            <a:normAutofit/>
          </a:bodyPr>
          <a:lstStyle/>
          <a:p>
            <a:r>
              <a:rPr lang="fr-FR" sz="2800" b="1" dirty="0">
                <a:solidFill>
                  <a:srgbClr val="FFC000"/>
                </a:solidFill>
                <a:latin typeface="Constantia" panose="02030602050306030303" pitchFamily="18" charset="0"/>
              </a:rPr>
              <a:t>3. Modélisation statistique de l’EAD en fonction du CCF</a:t>
            </a:r>
            <a:br>
              <a:rPr lang="fr-FR" sz="2800" b="1" dirty="0">
                <a:solidFill>
                  <a:srgbClr val="FFC000"/>
                </a:solidFill>
                <a:latin typeface="Constantia" panose="02030602050306030303" pitchFamily="18" charset="0"/>
              </a:rPr>
            </a:br>
            <a:endParaRPr lang="fr" sz="2800" dirty="0">
              <a:solidFill>
                <a:srgbClr val="FFC000"/>
              </a:solidFill>
              <a:latin typeface="Constantia" panose="02030602050306030303" pitchFamily="18" charset="0"/>
            </a:endParaRPr>
          </a:p>
        </p:txBody>
      </p:sp>
      <p:sp>
        <p:nvSpPr>
          <p:cNvPr id="3" name="Espace réservé du contenu 2">
            <a:extLst>
              <a:ext uri="{FF2B5EF4-FFF2-40B4-BE49-F238E27FC236}">
                <a16:creationId xmlns:a16="http://schemas.microsoft.com/office/drawing/2014/main" id="{1591ED45-72A6-42D8-9A05-3FA6D37BEF73}"/>
              </a:ext>
            </a:extLst>
          </p:cNvPr>
          <p:cNvSpPr>
            <a:spLocks noGrp="1"/>
          </p:cNvSpPr>
          <p:nvPr>
            <p:ph idx="1"/>
          </p:nvPr>
        </p:nvSpPr>
        <p:spPr>
          <a:xfrm>
            <a:off x="1251678" y="2286002"/>
            <a:ext cx="10178322" cy="1616298"/>
          </a:xfrm>
        </p:spPr>
        <p:txBody>
          <a:bodyPr rtlCol="0">
            <a:normAutofit/>
          </a:bodyPr>
          <a:lstStyle/>
          <a:p>
            <a:pPr marL="0" indent="0">
              <a:buNone/>
            </a:pPr>
            <a:r>
              <a:rPr lang="fr-FR" sz="2400" dirty="0">
                <a:solidFill>
                  <a:srgbClr val="002060"/>
                </a:solidFill>
                <a:latin typeface="Constantia" panose="02030602050306030303" pitchFamily="18" charset="0"/>
              </a:rPr>
              <a:t>Une modélisation statistique permet d’analyser l’impact du facteur de conversion sur l’exposition en cas de défaut et d’identifier les principaux déterminants de cette relation.</a:t>
            </a:r>
          </a:p>
        </p:txBody>
      </p:sp>
    </p:spTree>
    <p:extLst>
      <p:ext uri="{BB962C8B-B14F-4D97-AF65-F5344CB8AC3E}">
        <p14:creationId xmlns:p14="http://schemas.microsoft.com/office/powerpoint/2010/main" val="1071080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40183-98AF-438D-AC1C-0AF4CC28DBD3}"/>
              </a:ext>
            </a:extLst>
          </p:cNvPr>
          <p:cNvSpPr>
            <a:spLocks noGrp="1"/>
          </p:cNvSpPr>
          <p:nvPr>
            <p:ph type="title"/>
          </p:nvPr>
        </p:nvSpPr>
        <p:spPr/>
        <p:txBody>
          <a:bodyPr rtlCol="0">
            <a:normAutofit/>
          </a:bodyPr>
          <a:lstStyle/>
          <a:p>
            <a:r>
              <a:rPr lang="fr-FR" sz="2800" b="1" dirty="0">
                <a:solidFill>
                  <a:srgbClr val="FFC000"/>
                </a:solidFill>
                <a:latin typeface="Constantia" panose="02030602050306030303" pitchFamily="18" charset="0"/>
              </a:rPr>
              <a:t>3.1. Modélisation statistique de l’EAD en fonction du CCF</a:t>
            </a:r>
            <a:br>
              <a:rPr lang="fr-FR" sz="2800" b="1" dirty="0">
                <a:solidFill>
                  <a:srgbClr val="FFC000"/>
                </a:solidFill>
                <a:latin typeface="Constantia" panose="02030602050306030303" pitchFamily="18" charset="0"/>
              </a:rPr>
            </a:br>
            <a:endParaRPr lang="fr" sz="2800" dirty="0">
              <a:solidFill>
                <a:srgbClr val="FFC000"/>
              </a:solidFill>
              <a:latin typeface="Constantia" panose="02030602050306030303" pitchFamily="18" charset="0"/>
            </a:endParaRPr>
          </a:p>
        </p:txBody>
      </p:sp>
      <p:sp>
        <p:nvSpPr>
          <p:cNvPr id="3" name="Espace réservé du contenu 2">
            <a:extLst>
              <a:ext uri="{FF2B5EF4-FFF2-40B4-BE49-F238E27FC236}">
                <a16:creationId xmlns:a16="http://schemas.microsoft.com/office/drawing/2014/main" id="{1591ED45-72A6-42D8-9A05-3FA6D37BEF73}"/>
              </a:ext>
            </a:extLst>
          </p:cNvPr>
          <p:cNvSpPr>
            <a:spLocks noGrp="1"/>
          </p:cNvSpPr>
          <p:nvPr>
            <p:ph idx="1"/>
          </p:nvPr>
        </p:nvSpPr>
        <p:spPr>
          <a:xfrm>
            <a:off x="1251678" y="2286001"/>
            <a:ext cx="10178322" cy="3496613"/>
          </a:xfrm>
        </p:spPr>
        <p:txBody>
          <a:bodyPr rtlCol="0">
            <a:normAutofit/>
          </a:bodyPr>
          <a:lstStyle/>
          <a:p>
            <a:pPr marL="0" indent="0">
              <a:buNone/>
            </a:pPr>
            <a:r>
              <a:rPr lang="fr-FR" dirty="0">
                <a:solidFill>
                  <a:srgbClr val="002060"/>
                </a:solidFill>
                <a:latin typeface="Constantia" panose="02030602050306030303" pitchFamily="18" charset="0"/>
              </a:rPr>
              <a:t>Une base de données fictive est générée avec les variables suivantes :</a:t>
            </a:r>
          </a:p>
          <a:p>
            <a:r>
              <a:rPr lang="fr-FR" b="1" dirty="0">
                <a:solidFill>
                  <a:srgbClr val="002060"/>
                </a:solidFill>
                <a:latin typeface="Constantia" panose="02030602050306030303" pitchFamily="18" charset="0"/>
              </a:rPr>
              <a:t>ID</a:t>
            </a:r>
            <a:r>
              <a:rPr lang="fr-FR" dirty="0">
                <a:solidFill>
                  <a:srgbClr val="002060"/>
                </a:solidFill>
                <a:latin typeface="Constantia" panose="02030602050306030303" pitchFamily="18" charset="0"/>
              </a:rPr>
              <a:t> : Identifiant unique du client,</a:t>
            </a:r>
          </a:p>
          <a:p>
            <a:r>
              <a:rPr lang="fr-FR" b="1" dirty="0">
                <a:solidFill>
                  <a:srgbClr val="002060"/>
                </a:solidFill>
                <a:latin typeface="Constantia" panose="02030602050306030303" pitchFamily="18" charset="0"/>
              </a:rPr>
              <a:t>Montant Engagement</a:t>
            </a:r>
            <a:r>
              <a:rPr lang="fr-FR" dirty="0">
                <a:solidFill>
                  <a:srgbClr val="002060"/>
                </a:solidFill>
                <a:latin typeface="Constantia" panose="02030602050306030303" pitchFamily="18" charset="0"/>
              </a:rPr>
              <a:t> : Montant total de l’engagement hors-bilan (en euros),</a:t>
            </a:r>
          </a:p>
          <a:p>
            <a:r>
              <a:rPr lang="fr-FR" b="1" dirty="0">
                <a:solidFill>
                  <a:srgbClr val="002060"/>
                </a:solidFill>
                <a:latin typeface="Constantia" panose="02030602050306030303" pitchFamily="18" charset="0"/>
              </a:rPr>
              <a:t>Type Engagement</a:t>
            </a:r>
            <a:r>
              <a:rPr lang="fr-FR" dirty="0">
                <a:solidFill>
                  <a:srgbClr val="002060"/>
                </a:solidFill>
                <a:latin typeface="Constantia" panose="02030602050306030303" pitchFamily="18" charset="0"/>
              </a:rPr>
              <a:t> : Type d’engagement (Ligne de crédit, Garantie, Lettre de crédit, etc.),</a:t>
            </a:r>
          </a:p>
          <a:p>
            <a:r>
              <a:rPr lang="fr-FR" b="1" dirty="0">
                <a:solidFill>
                  <a:srgbClr val="002060"/>
                </a:solidFill>
                <a:latin typeface="Constantia" panose="02030602050306030303" pitchFamily="18" charset="0"/>
              </a:rPr>
              <a:t>CCF</a:t>
            </a:r>
            <a:r>
              <a:rPr lang="fr-FR" dirty="0">
                <a:solidFill>
                  <a:srgbClr val="002060"/>
                </a:solidFill>
                <a:latin typeface="Constantia" panose="02030602050306030303" pitchFamily="18" charset="0"/>
              </a:rPr>
              <a:t> : Facteur de conversion du crédit (en %),</a:t>
            </a:r>
          </a:p>
          <a:p>
            <a:r>
              <a:rPr lang="fr-FR" b="1" dirty="0">
                <a:solidFill>
                  <a:srgbClr val="002060"/>
                </a:solidFill>
                <a:latin typeface="Constantia" panose="02030602050306030303" pitchFamily="18" charset="0"/>
              </a:rPr>
              <a:t>EAD</a:t>
            </a:r>
            <a:r>
              <a:rPr lang="fr-FR" dirty="0">
                <a:solidFill>
                  <a:srgbClr val="002060"/>
                </a:solidFill>
                <a:latin typeface="Constantia" panose="02030602050306030303" pitchFamily="18" charset="0"/>
              </a:rPr>
              <a:t> : Exposition au défaut calculée à partir de la formule précédente.</a:t>
            </a:r>
          </a:p>
          <a:p>
            <a:pPr marL="0" indent="0">
              <a:buNone/>
            </a:pPr>
            <a:endParaRPr lang="fr-FR" dirty="0">
              <a:solidFill>
                <a:srgbClr val="002060"/>
              </a:solidFill>
              <a:latin typeface="Constantia" panose="02030602050306030303" pitchFamily="18" charset="0"/>
            </a:endParaRPr>
          </a:p>
        </p:txBody>
      </p:sp>
    </p:spTree>
    <p:extLst>
      <p:ext uri="{BB962C8B-B14F-4D97-AF65-F5344CB8AC3E}">
        <p14:creationId xmlns:p14="http://schemas.microsoft.com/office/powerpoint/2010/main" val="579865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40183-98AF-438D-AC1C-0AF4CC28DBD3}"/>
              </a:ext>
            </a:extLst>
          </p:cNvPr>
          <p:cNvSpPr>
            <a:spLocks noGrp="1"/>
          </p:cNvSpPr>
          <p:nvPr>
            <p:ph type="title"/>
          </p:nvPr>
        </p:nvSpPr>
        <p:spPr>
          <a:xfrm>
            <a:off x="1251678" y="382385"/>
            <a:ext cx="10178322" cy="2167632"/>
          </a:xfrm>
        </p:spPr>
        <p:txBody>
          <a:bodyPr rtlCol="0">
            <a:normAutofit/>
          </a:bodyPr>
          <a:lstStyle/>
          <a:p>
            <a:r>
              <a:rPr lang="fr-FR" sz="3600" b="1" dirty="0">
                <a:solidFill>
                  <a:srgbClr val="FFC000"/>
                </a:solidFill>
                <a:latin typeface="Bahnschrift" panose="020B0502040204020203" pitchFamily="34" charset="0"/>
              </a:rPr>
              <a:t>3.3 Modélisation sous R</a:t>
            </a:r>
            <a:br>
              <a:rPr lang="fr-FR" sz="3600" b="1" dirty="0">
                <a:solidFill>
                  <a:srgbClr val="FFC000"/>
                </a:solidFill>
                <a:latin typeface="Bahnschrift" panose="020B0502040204020203" pitchFamily="34" charset="0"/>
              </a:rPr>
            </a:br>
            <a:br>
              <a:rPr lang="fr-FR" sz="3600" b="1" dirty="0">
                <a:latin typeface="Bahnschrift" panose="020B0502040204020203" pitchFamily="34" charset="0"/>
              </a:rPr>
            </a:br>
            <a:endParaRPr lang="fr-FR" sz="3600" dirty="0">
              <a:solidFill>
                <a:srgbClr val="002060"/>
              </a:solidFill>
              <a:latin typeface="Bahnschrift" panose="020B0502040204020203" pitchFamily="34" charset="0"/>
            </a:endParaRPr>
          </a:p>
        </p:txBody>
      </p:sp>
      <p:sp>
        <p:nvSpPr>
          <p:cNvPr id="3" name="Espace réservé du contenu 2">
            <a:extLst>
              <a:ext uri="{FF2B5EF4-FFF2-40B4-BE49-F238E27FC236}">
                <a16:creationId xmlns:a16="http://schemas.microsoft.com/office/drawing/2014/main" id="{1591ED45-72A6-42D8-9A05-3FA6D37BEF73}"/>
              </a:ext>
            </a:extLst>
          </p:cNvPr>
          <p:cNvSpPr>
            <a:spLocks noGrp="1"/>
          </p:cNvSpPr>
          <p:nvPr>
            <p:ph idx="1"/>
          </p:nvPr>
        </p:nvSpPr>
        <p:spPr>
          <a:xfrm>
            <a:off x="1154806" y="1275008"/>
            <a:ext cx="10474817" cy="3039415"/>
          </a:xfrm>
        </p:spPr>
        <p:txBody>
          <a:bodyPr rtlCol="0">
            <a:noAutofit/>
          </a:bodyPr>
          <a:lstStyle/>
          <a:p>
            <a:pPr marL="0" indent="0">
              <a:buNone/>
            </a:pPr>
            <a:r>
              <a:rPr lang="fr-FR" dirty="0">
                <a:solidFill>
                  <a:srgbClr val="002060"/>
                </a:solidFill>
                <a:latin typeface="Constantia" panose="02030602050306030303" pitchFamily="18" charset="0"/>
              </a:rPr>
              <a:t>Une régression linéaire est appliquée pour analyser l'influence du montant de l'engagement et du type d'engagement sur l'exposition au défaut.</a:t>
            </a:r>
            <a:br>
              <a:rPr lang="fr-FR" dirty="0">
                <a:solidFill>
                  <a:srgbClr val="002060"/>
                </a:solidFill>
                <a:latin typeface="Constantia" panose="02030602050306030303" pitchFamily="18" charset="0"/>
              </a:rPr>
            </a:br>
            <a:r>
              <a:rPr lang="fr-FR" dirty="0">
                <a:solidFill>
                  <a:srgbClr val="002060"/>
                </a:solidFill>
                <a:latin typeface="Constantia" panose="02030602050306030303" pitchFamily="18" charset="0"/>
              </a:rPr>
              <a:t>Code R pour l'analyse :</a:t>
            </a:r>
            <a:br>
              <a:rPr lang="fr-FR" dirty="0">
                <a:solidFill>
                  <a:srgbClr val="002060"/>
                </a:solidFill>
                <a:latin typeface="Constantia" panose="02030602050306030303" pitchFamily="18" charset="0"/>
              </a:rPr>
            </a:br>
            <a:endParaRPr lang="fr-FR" dirty="0">
              <a:solidFill>
                <a:srgbClr val="002060"/>
              </a:solidFill>
              <a:latin typeface="Arial Black" panose="020B0A04020102020204" pitchFamily="34" charset="0"/>
            </a:endParaRPr>
          </a:p>
        </p:txBody>
      </p:sp>
    </p:spTree>
    <p:extLst>
      <p:ext uri="{BB962C8B-B14F-4D97-AF65-F5344CB8AC3E}">
        <p14:creationId xmlns:p14="http://schemas.microsoft.com/office/powerpoint/2010/main" val="4020142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06F0F283-C8B6-4598-89C9-C404C98A5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16" name="Rectangle 11">
            <a:extLst>
              <a:ext uri="{FF2B5EF4-FFF2-40B4-BE49-F238E27FC236}">
                <a16:creationId xmlns:a16="http://schemas.microsoft.com/office/drawing/2014/main" id="{E3B475C6-1445-41C7-9360-49FD7C1C1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Espace réservé du contenu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7814" y="473532"/>
            <a:ext cx="11754185" cy="5364051"/>
          </a:xfrm>
        </p:spPr>
      </p:pic>
    </p:spTree>
    <p:extLst>
      <p:ext uri="{BB962C8B-B14F-4D97-AF65-F5344CB8AC3E}">
        <p14:creationId xmlns:p14="http://schemas.microsoft.com/office/powerpoint/2010/main" val="2257163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orme libre 6">
            <a:extLst>
              <a:ext uri="{FF2B5EF4-FFF2-40B4-BE49-F238E27FC236}">
                <a16:creationId xmlns:a16="http://schemas.microsoft.com/office/drawing/2014/main" id="{B217C2AD-51B4-40CE-A71F-F5D3F846D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12" name="Rectangle 11">
            <a:extLst>
              <a:ext uri="{FF2B5EF4-FFF2-40B4-BE49-F238E27FC236}">
                <a16:creationId xmlns:a16="http://schemas.microsoft.com/office/drawing/2014/main" id="{6F1BF92E-23CF-4BFE-9E1F-C359BACFA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4" name="Rectangle 13">
            <a:extLst>
              <a:ext uri="{FF2B5EF4-FFF2-40B4-BE49-F238E27FC236}">
                <a16:creationId xmlns:a16="http://schemas.microsoft.com/office/drawing/2014/main" id="{B89090F2-B101-458B-9AFF-27327443BB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fr-FR"/>
          </a:p>
        </p:txBody>
      </p:sp>
      <p:sp>
        <p:nvSpPr>
          <p:cNvPr id="16" name="Forme libre 6">
            <a:extLst>
              <a:ext uri="{FF2B5EF4-FFF2-40B4-BE49-F238E27FC236}">
                <a16:creationId xmlns:a16="http://schemas.microsoft.com/office/drawing/2014/main" id="{526C103B-17BD-4B48-AB6F-0D9EF826AA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8" name="Rectangle 17">
            <a:extLst>
              <a:ext uri="{FF2B5EF4-FFF2-40B4-BE49-F238E27FC236}">
                <a16:creationId xmlns:a16="http://schemas.microsoft.com/office/drawing/2014/main" id="{E9EC3243-CA25-4485-A7FE-8B0141923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Espace réservé du contenu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64361" y="1874518"/>
            <a:ext cx="10065639" cy="4983482"/>
          </a:xfrm>
        </p:spPr>
      </p:pic>
      <p:sp>
        <p:nvSpPr>
          <p:cNvPr id="5" name="Titre 4"/>
          <p:cNvSpPr>
            <a:spLocks noGrp="1"/>
          </p:cNvSpPr>
          <p:nvPr>
            <p:ph type="title"/>
          </p:nvPr>
        </p:nvSpPr>
        <p:spPr/>
        <p:txBody>
          <a:bodyPr>
            <a:normAutofit/>
          </a:bodyPr>
          <a:lstStyle/>
          <a:p>
            <a:r>
              <a:rPr lang="fr-FR" sz="2800" b="1" dirty="0">
                <a:solidFill>
                  <a:srgbClr val="FFC000"/>
                </a:solidFill>
                <a:latin typeface="Constantia" panose="02030602050306030303" pitchFamily="18" charset="0"/>
              </a:rPr>
              <a:t>TABLEAU DE L ’EXPOSITION AU Défaut </a:t>
            </a:r>
            <a:r>
              <a:rPr lang="fr-FR" sz="2800" dirty="0">
                <a:solidFill>
                  <a:srgbClr val="FFC000"/>
                </a:solidFill>
                <a:latin typeface="Constantia" panose="02030602050306030303" pitchFamily="18" charset="0"/>
              </a:rPr>
              <a:t>(ead)</a:t>
            </a:r>
          </a:p>
        </p:txBody>
      </p:sp>
    </p:spTree>
    <p:extLst>
      <p:ext uri="{BB962C8B-B14F-4D97-AF65-F5344CB8AC3E}">
        <p14:creationId xmlns:p14="http://schemas.microsoft.com/office/powerpoint/2010/main" val="1630570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40183-98AF-438D-AC1C-0AF4CC28DBD3}"/>
              </a:ext>
            </a:extLst>
          </p:cNvPr>
          <p:cNvSpPr>
            <a:spLocks noGrp="1"/>
          </p:cNvSpPr>
          <p:nvPr>
            <p:ph type="title"/>
          </p:nvPr>
        </p:nvSpPr>
        <p:spPr/>
        <p:txBody>
          <a:bodyPr rtlCol="0">
            <a:normAutofit/>
          </a:bodyPr>
          <a:lstStyle/>
          <a:p>
            <a:r>
              <a:rPr lang="fr-FR" sz="3200" b="1" dirty="0">
                <a:solidFill>
                  <a:srgbClr val="FFC000"/>
                </a:solidFill>
                <a:latin typeface="Constantia" panose="02030602050306030303" pitchFamily="18" charset="0"/>
              </a:rPr>
              <a:t>3.2 Interprétation des résultats</a:t>
            </a:r>
            <a:br>
              <a:rPr lang="fr-FR" sz="3200" b="1" dirty="0">
                <a:solidFill>
                  <a:srgbClr val="FFC000"/>
                </a:solidFill>
                <a:latin typeface="Constantia" panose="02030602050306030303" pitchFamily="18" charset="0"/>
              </a:rPr>
            </a:br>
            <a:endParaRPr lang="fr" sz="3200" dirty="0">
              <a:solidFill>
                <a:srgbClr val="FFC000"/>
              </a:solidFill>
              <a:latin typeface="Constantia" panose="02030602050306030303" pitchFamily="18" charset="0"/>
            </a:endParaRPr>
          </a:p>
        </p:txBody>
      </p:sp>
      <p:sp>
        <p:nvSpPr>
          <p:cNvPr id="3" name="Espace réservé du contenu 2">
            <a:extLst>
              <a:ext uri="{FF2B5EF4-FFF2-40B4-BE49-F238E27FC236}">
                <a16:creationId xmlns:a16="http://schemas.microsoft.com/office/drawing/2014/main" id="{1591ED45-72A6-42D8-9A05-3FA6D37BEF73}"/>
              </a:ext>
            </a:extLst>
          </p:cNvPr>
          <p:cNvSpPr>
            <a:spLocks noGrp="1"/>
          </p:cNvSpPr>
          <p:nvPr>
            <p:ph idx="1"/>
          </p:nvPr>
        </p:nvSpPr>
        <p:spPr>
          <a:xfrm>
            <a:off x="940158" y="1874517"/>
            <a:ext cx="11037194" cy="4983483"/>
          </a:xfrm>
        </p:spPr>
        <p:txBody>
          <a:bodyPr rtlCol="0">
            <a:noAutofit/>
          </a:bodyPr>
          <a:lstStyle/>
          <a:p>
            <a:pPr marL="0" indent="0">
              <a:buNone/>
            </a:pPr>
            <a:r>
              <a:rPr lang="fr-FR" dirty="0">
                <a:solidFill>
                  <a:srgbClr val="002060"/>
                </a:solidFill>
                <a:latin typeface="Constantia" panose="02030602050306030303" pitchFamily="18" charset="0"/>
              </a:rPr>
              <a:t>L’analyse du tableau des données permet d’observer l’impact du </a:t>
            </a:r>
            <a:r>
              <a:rPr lang="fr-FR" b="1" dirty="0">
                <a:solidFill>
                  <a:srgbClr val="002060"/>
                </a:solidFill>
                <a:latin typeface="Constantia" panose="02030602050306030303" pitchFamily="18" charset="0"/>
              </a:rPr>
              <a:t>CCF</a:t>
            </a:r>
            <a:r>
              <a:rPr lang="fr-FR" dirty="0">
                <a:solidFill>
                  <a:srgbClr val="002060"/>
                </a:solidFill>
                <a:latin typeface="Constantia" panose="02030602050306030303" pitchFamily="18" charset="0"/>
              </a:rPr>
              <a:t> sur l’</a:t>
            </a:r>
            <a:r>
              <a:rPr lang="fr-FR" b="1" dirty="0">
                <a:solidFill>
                  <a:srgbClr val="002060"/>
                </a:solidFill>
                <a:latin typeface="Constantia" panose="02030602050306030303" pitchFamily="18" charset="0"/>
              </a:rPr>
              <a:t>EAD</a:t>
            </a:r>
            <a:r>
              <a:rPr lang="fr-FR" dirty="0">
                <a:solidFill>
                  <a:srgbClr val="002060"/>
                </a:solidFill>
                <a:latin typeface="Constantia" panose="02030602050306030303" pitchFamily="18" charset="0"/>
              </a:rPr>
              <a:t> selon le type d’engagement :</a:t>
            </a:r>
          </a:p>
          <a:p>
            <a:r>
              <a:rPr lang="fr-FR" b="1" dirty="0">
                <a:solidFill>
                  <a:srgbClr val="002060"/>
                </a:solidFill>
                <a:latin typeface="Constantia" panose="02030602050306030303" pitchFamily="18" charset="0"/>
              </a:rPr>
              <a:t>Plus le CCF est élevé, plus l’EAD est proche du Montant Engagement.</a:t>
            </a:r>
            <a:endParaRPr lang="fr-FR" dirty="0">
              <a:solidFill>
                <a:srgbClr val="002060"/>
              </a:solidFill>
              <a:latin typeface="Constantia" panose="02030602050306030303" pitchFamily="18" charset="0"/>
            </a:endParaRPr>
          </a:p>
          <a:p>
            <a:pPr lvl="1"/>
            <a:r>
              <a:rPr lang="fr-FR" sz="2000" dirty="0">
                <a:solidFill>
                  <a:srgbClr val="002060"/>
                </a:solidFill>
                <a:latin typeface="Constantia" panose="02030602050306030303" pitchFamily="18" charset="0"/>
              </a:rPr>
              <a:t>Par exemple, pour les </a:t>
            </a:r>
            <a:r>
              <a:rPr lang="fr-FR" sz="2000" b="1" dirty="0">
                <a:solidFill>
                  <a:srgbClr val="002060"/>
                </a:solidFill>
                <a:latin typeface="Constantia" panose="02030602050306030303" pitchFamily="18" charset="0"/>
              </a:rPr>
              <a:t>garanties</a:t>
            </a:r>
            <a:r>
              <a:rPr lang="fr-FR" sz="2000" dirty="0">
                <a:solidFill>
                  <a:srgbClr val="002060"/>
                </a:solidFill>
                <a:latin typeface="Constantia" panose="02030602050306030303" pitchFamily="18" charset="0"/>
              </a:rPr>
              <a:t>, le CCF est </a:t>
            </a:r>
            <a:r>
              <a:rPr lang="fr-FR" sz="2000" b="1" dirty="0">
                <a:solidFill>
                  <a:srgbClr val="002060"/>
                </a:solidFill>
                <a:latin typeface="Constantia" panose="02030602050306030303" pitchFamily="18" charset="0"/>
              </a:rPr>
              <a:t>1.0</a:t>
            </a:r>
            <a:r>
              <a:rPr lang="fr-FR" sz="2000" dirty="0">
                <a:solidFill>
                  <a:srgbClr val="002060"/>
                </a:solidFill>
                <a:latin typeface="Constantia" panose="02030602050306030303" pitchFamily="18" charset="0"/>
              </a:rPr>
              <a:t>, donc </a:t>
            </a:r>
            <a:r>
              <a:rPr lang="fr-FR" sz="2000" b="1" dirty="0">
                <a:solidFill>
                  <a:srgbClr val="002060"/>
                </a:solidFill>
                <a:latin typeface="Constantia" panose="02030602050306030303" pitchFamily="18" charset="0"/>
              </a:rPr>
              <a:t>EAD = Montant Engagement</a:t>
            </a:r>
            <a:r>
              <a:rPr lang="fr-FR" sz="2000" dirty="0">
                <a:solidFill>
                  <a:srgbClr val="002060"/>
                </a:solidFill>
                <a:latin typeface="Constantia" panose="02030602050306030303" pitchFamily="18" charset="0"/>
              </a:rPr>
              <a:t>.</a:t>
            </a:r>
          </a:p>
          <a:p>
            <a:pPr lvl="1"/>
            <a:r>
              <a:rPr lang="fr-FR" sz="2000" dirty="0">
                <a:solidFill>
                  <a:srgbClr val="002060"/>
                </a:solidFill>
                <a:latin typeface="Constantia" panose="02030602050306030303" pitchFamily="18" charset="0"/>
              </a:rPr>
              <a:t>En revanche, pour les </a:t>
            </a:r>
            <a:r>
              <a:rPr lang="fr-FR" sz="2000" b="1" dirty="0">
                <a:solidFill>
                  <a:srgbClr val="002060"/>
                </a:solidFill>
                <a:latin typeface="Constantia" panose="02030602050306030303" pitchFamily="18" charset="0"/>
              </a:rPr>
              <a:t>lignes de crédit</a:t>
            </a:r>
            <a:r>
              <a:rPr lang="fr-FR" sz="2000" dirty="0">
                <a:solidFill>
                  <a:srgbClr val="002060"/>
                </a:solidFill>
                <a:latin typeface="Constantia" panose="02030602050306030303" pitchFamily="18" charset="0"/>
              </a:rPr>
              <a:t>, le CCF est </a:t>
            </a:r>
            <a:r>
              <a:rPr lang="fr-FR" sz="2000" b="1" dirty="0">
                <a:solidFill>
                  <a:srgbClr val="002060"/>
                </a:solidFill>
                <a:latin typeface="Constantia" panose="02030602050306030303" pitchFamily="18" charset="0"/>
              </a:rPr>
              <a:t>0.5 ou 0.2</a:t>
            </a:r>
            <a:r>
              <a:rPr lang="fr-FR" sz="2000" dirty="0">
                <a:solidFill>
                  <a:srgbClr val="002060"/>
                </a:solidFill>
                <a:latin typeface="Constantia" panose="02030602050306030303" pitchFamily="18" charset="0"/>
              </a:rPr>
              <a:t>, donc l’EAD est </a:t>
            </a:r>
            <a:r>
              <a:rPr lang="fr-FR" sz="2000" b="1" dirty="0">
                <a:solidFill>
                  <a:srgbClr val="002060"/>
                </a:solidFill>
                <a:latin typeface="Constantia" panose="02030602050306030303" pitchFamily="18" charset="0"/>
              </a:rPr>
              <a:t>réduit</a:t>
            </a:r>
            <a:r>
              <a:rPr lang="fr-FR" sz="2000" dirty="0">
                <a:solidFill>
                  <a:srgbClr val="002060"/>
                </a:solidFill>
                <a:latin typeface="Constantia" panose="02030602050306030303" pitchFamily="18" charset="0"/>
              </a:rPr>
              <a:t> par rapport au Montant Engagement.</a:t>
            </a:r>
          </a:p>
          <a:p>
            <a:r>
              <a:rPr lang="fr-FR" b="1" dirty="0">
                <a:solidFill>
                  <a:srgbClr val="002060"/>
                </a:solidFill>
                <a:latin typeface="Constantia" panose="02030602050306030303" pitchFamily="18" charset="0"/>
              </a:rPr>
              <a:t>Différences selon le type d’engagement :</a:t>
            </a:r>
            <a:endParaRPr lang="fr-FR" dirty="0">
              <a:solidFill>
                <a:srgbClr val="002060"/>
              </a:solidFill>
              <a:latin typeface="Constantia" panose="02030602050306030303" pitchFamily="18" charset="0"/>
            </a:endParaRPr>
          </a:p>
          <a:p>
            <a:pPr lvl="1"/>
            <a:r>
              <a:rPr lang="fr-FR" sz="2000" b="1" dirty="0">
                <a:solidFill>
                  <a:srgbClr val="002060"/>
                </a:solidFill>
                <a:latin typeface="Constantia" panose="02030602050306030303" pitchFamily="18" charset="0"/>
              </a:rPr>
              <a:t>Ligne de crédit</a:t>
            </a:r>
            <a:r>
              <a:rPr lang="fr-FR" sz="2000" dirty="0">
                <a:solidFill>
                  <a:srgbClr val="002060"/>
                </a:solidFill>
                <a:latin typeface="Constantia" panose="02030602050306030303" pitchFamily="18" charset="0"/>
              </a:rPr>
              <a:t> : L’EAD est </a:t>
            </a:r>
            <a:r>
              <a:rPr lang="fr-FR" sz="2000" b="1" dirty="0">
                <a:solidFill>
                  <a:srgbClr val="002060"/>
                </a:solidFill>
                <a:latin typeface="Constantia" panose="02030602050306030303" pitchFamily="18" charset="0"/>
              </a:rPr>
              <a:t>inférieur</a:t>
            </a:r>
            <a:r>
              <a:rPr lang="fr-FR" sz="2000" dirty="0">
                <a:solidFill>
                  <a:srgbClr val="002060"/>
                </a:solidFill>
                <a:latin typeface="Constantia" panose="02030602050306030303" pitchFamily="18" charset="0"/>
              </a:rPr>
              <a:t> au Montant Engagement car le CCF est </a:t>
            </a:r>
            <a:r>
              <a:rPr lang="fr-FR" sz="2000" b="1" dirty="0">
                <a:solidFill>
                  <a:srgbClr val="002060"/>
                </a:solidFill>
                <a:latin typeface="Constantia" panose="02030602050306030303" pitchFamily="18" charset="0"/>
              </a:rPr>
              <a:t>faible (0.2 ou 0.5)</a:t>
            </a:r>
            <a:r>
              <a:rPr lang="fr-FR" sz="2000" dirty="0">
                <a:solidFill>
                  <a:srgbClr val="002060"/>
                </a:solidFill>
                <a:latin typeface="Constantia" panose="02030602050306030303" pitchFamily="18" charset="0"/>
              </a:rPr>
              <a:t>, ce qui signifie que seule une partie du montant risque d’être exposée en cas de défaut.</a:t>
            </a:r>
          </a:p>
          <a:p>
            <a:pPr lvl="1"/>
            <a:r>
              <a:rPr lang="fr-FR" sz="2000" b="1" dirty="0">
                <a:solidFill>
                  <a:srgbClr val="002060"/>
                </a:solidFill>
                <a:latin typeface="Constantia" panose="02030602050306030303" pitchFamily="18" charset="0"/>
              </a:rPr>
              <a:t>Engagement conditionnel</a:t>
            </a:r>
            <a:r>
              <a:rPr lang="fr-FR" sz="2000" dirty="0">
                <a:solidFill>
                  <a:srgbClr val="002060"/>
                </a:solidFill>
                <a:latin typeface="Constantia" panose="02030602050306030303" pitchFamily="18" charset="0"/>
              </a:rPr>
              <a:t> : Certains ont un CCF de </a:t>
            </a:r>
            <a:r>
              <a:rPr lang="fr-FR" sz="2000" b="1" dirty="0">
                <a:solidFill>
                  <a:srgbClr val="002060"/>
                </a:solidFill>
                <a:latin typeface="Constantia" panose="02030602050306030303" pitchFamily="18" charset="0"/>
              </a:rPr>
              <a:t>0.5</a:t>
            </a:r>
            <a:r>
              <a:rPr lang="fr-FR" sz="2000" dirty="0">
                <a:solidFill>
                  <a:srgbClr val="002060"/>
                </a:solidFill>
                <a:latin typeface="Constantia" panose="02030602050306030303" pitchFamily="18" charset="0"/>
              </a:rPr>
              <a:t>, d’autres </a:t>
            </a:r>
            <a:r>
              <a:rPr lang="fr-FR" sz="2000" b="1" dirty="0">
                <a:solidFill>
                  <a:srgbClr val="002060"/>
                </a:solidFill>
                <a:latin typeface="Constantia" panose="02030602050306030303" pitchFamily="18" charset="0"/>
              </a:rPr>
              <a:t>1.0</a:t>
            </a:r>
            <a:r>
              <a:rPr lang="fr-FR" sz="2000" dirty="0">
                <a:solidFill>
                  <a:srgbClr val="002060"/>
                </a:solidFill>
                <a:latin typeface="Constantia" panose="02030602050306030303" pitchFamily="18" charset="0"/>
              </a:rPr>
              <a:t>, ce qui montre que selon le contrat, la banque considère un risque plus ou moins élevé.</a:t>
            </a:r>
          </a:p>
          <a:p>
            <a:pPr lvl="1"/>
            <a:r>
              <a:rPr lang="fr-FR" sz="2000" b="1" dirty="0">
                <a:solidFill>
                  <a:srgbClr val="002060"/>
                </a:solidFill>
                <a:latin typeface="Constantia" panose="02030602050306030303" pitchFamily="18" charset="0"/>
              </a:rPr>
              <a:t>Garantie</a:t>
            </a:r>
            <a:r>
              <a:rPr lang="fr-FR" sz="2000" dirty="0">
                <a:solidFill>
                  <a:srgbClr val="002060"/>
                </a:solidFill>
                <a:latin typeface="Constantia" panose="02030602050306030303" pitchFamily="18" charset="0"/>
              </a:rPr>
              <a:t> : Le CCF est </a:t>
            </a:r>
            <a:r>
              <a:rPr lang="fr-FR" sz="2000" b="1" dirty="0">
                <a:solidFill>
                  <a:srgbClr val="002060"/>
                </a:solidFill>
                <a:latin typeface="Constantia" panose="02030602050306030303" pitchFamily="18" charset="0"/>
              </a:rPr>
              <a:t>1.0</a:t>
            </a:r>
            <a:r>
              <a:rPr lang="fr-FR" sz="2000" dirty="0">
                <a:solidFill>
                  <a:srgbClr val="002060"/>
                </a:solidFill>
                <a:latin typeface="Constantia" panose="02030602050306030303" pitchFamily="18" charset="0"/>
              </a:rPr>
              <a:t>, ce qui signifie que </a:t>
            </a:r>
            <a:r>
              <a:rPr lang="fr-FR" sz="2000" b="1" dirty="0">
                <a:solidFill>
                  <a:srgbClr val="002060"/>
                </a:solidFill>
                <a:latin typeface="Constantia" panose="02030602050306030303" pitchFamily="18" charset="0"/>
              </a:rPr>
              <a:t>tout le montant engagé est pris en compte comme une exposition potentielle au défaut</a:t>
            </a:r>
            <a:r>
              <a:rPr lang="fr-FR" sz="2000" dirty="0">
                <a:solidFill>
                  <a:srgbClr val="002060"/>
                </a:solidFill>
                <a:latin typeface="Constantia" panose="02030602050306030303" pitchFamily="18" charset="0"/>
              </a:rPr>
              <a:t>.</a:t>
            </a:r>
          </a:p>
          <a:p>
            <a:pPr marL="0" indent="0">
              <a:buNone/>
            </a:pPr>
            <a:endParaRPr lang="fr-FR" dirty="0">
              <a:solidFill>
                <a:srgbClr val="002060"/>
              </a:solidFill>
              <a:latin typeface="Constantia" panose="02030602050306030303" pitchFamily="18" charset="0"/>
            </a:endParaRPr>
          </a:p>
        </p:txBody>
      </p:sp>
    </p:spTree>
    <p:extLst>
      <p:ext uri="{BB962C8B-B14F-4D97-AF65-F5344CB8AC3E}">
        <p14:creationId xmlns:p14="http://schemas.microsoft.com/office/powerpoint/2010/main" val="4282682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40183-98AF-438D-AC1C-0AF4CC28DBD3}"/>
              </a:ext>
            </a:extLst>
          </p:cNvPr>
          <p:cNvSpPr>
            <a:spLocks noGrp="1"/>
          </p:cNvSpPr>
          <p:nvPr>
            <p:ph type="title"/>
          </p:nvPr>
        </p:nvSpPr>
        <p:spPr/>
        <p:txBody>
          <a:bodyPr rtlCol="0">
            <a:normAutofit/>
          </a:bodyPr>
          <a:lstStyle/>
          <a:p>
            <a:br>
              <a:rPr lang="fr-FR" sz="4000" b="1" dirty="0"/>
            </a:br>
            <a:endParaRPr lang="fr" sz="4000" dirty="0">
              <a:latin typeface="Bodoni MT" panose="02070603080606020203" pitchFamily="18" charset="0"/>
            </a:endParaRPr>
          </a:p>
        </p:txBody>
      </p:sp>
      <p:sp>
        <p:nvSpPr>
          <p:cNvPr id="3" name="Espace réservé du contenu 2">
            <a:extLst>
              <a:ext uri="{FF2B5EF4-FFF2-40B4-BE49-F238E27FC236}">
                <a16:creationId xmlns:a16="http://schemas.microsoft.com/office/drawing/2014/main" id="{1591ED45-72A6-42D8-9A05-3FA6D37BEF73}"/>
              </a:ext>
            </a:extLst>
          </p:cNvPr>
          <p:cNvSpPr>
            <a:spLocks noGrp="1"/>
          </p:cNvSpPr>
          <p:nvPr>
            <p:ph idx="1"/>
          </p:nvPr>
        </p:nvSpPr>
        <p:spPr>
          <a:xfrm>
            <a:off x="940158" y="656824"/>
            <a:ext cx="10489842" cy="4881092"/>
          </a:xfrm>
        </p:spPr>
        <p:txBody>
          <a:bodyPr rtlCol="0">
            <a:noAutofit/>
          </a:bodyPr>
          <a:lstStyle/>
          <a:p>
            <a:r>
              <a:rPr lang="fr-FR" b="1" dirty="0">
                <a:solidFill>
                  <a:srgbClr val="002060"/>
                </a:solidFill>
                <a:latin typeface="Constantia" panose="02030602050306030303" pitchFamily="18" charset="0"/>
              </a:rPr>
              <a:t>Implications pour la gestion des risques :</a:t>
            </a:r>
            <a:endParaRPr lang="fr-FR" dirty="0">
              <a:solidFill>
                <a:srgbClr val="002060"/>
              </a:solidFill>
              <a:latin typeface="Constantia" panose="02030602050306030303" pitchFamily="18" charset="0"/>
            </a:endParaRPr>
          </a:p>
          <a:p>
            <a:pPr lvl="1"/>
            <a:r>
              <a:rPr lang="fr-FR" sz="2000" dirty="0">
                <a:solidFill>
                  <a:srgbClr val="002060"/>
                </a:solidFill>
                <a:latin typeface="Constantia" panose="02030602050306030303" pitchFamily="18" charset="0"/>
              </a:rPr>
              <a:t>Les garanties exposent totalement la banque au risque (EAD = Montant Engagement).</a:t>
            </a:r>
          </a:p>
          <a:p>
            <a:pPr lvl="1"/>
            <a:r>
              <a:rPr lang="fr-FR" sz="2000" dirty="0">
                <a:solidFill>
                  <a:srgbClr val="002060"/>
                </a:solidFill>
                <a:latin typeface="Constantia" panose="02030602050306030303" pitchFamily="18" charset="0"/>
              </a:rPr>
              <a:t>Les lignes de crédit et certains engagements conditionnels réduisent l’exposition grâce à un CCF inférieur à 1.0.</a:t>
            </a:r>
          </a:p>
          <a:p>
            <a:pPr lvl="1"/>
            <a:r>
              <a:rPr lang="fr-FR" sz="2000" dirty="0">
                <a:solidFill>
                  <a:srgbClr val="002060"/>
                </a:solidFill>
                <a:latin typeface="Constantia" panose="02030602050306030303" pitchFamily="18" charset="0"/>
              </a:rPr>
              <a:t>La banque peut utiliser ces informations pour ajuster sa gestion des risques et son allocation de capital.</a:t>
            </a:r>
          </a:p>
          <a:p>
            <a:pPr marL="0" indent="0">
              <a:buNone/>
            </a:pPr>
            <a:endParaRPr lang="fr-FR" b="1" dirty="0">
              <a:solidFill>
                <a:srgbClr val="002060"/>
              </a:solidFill>
              <a:latin typeface="Constantia" panose="02030602050306030303" pitchFamily="18" charset="0"/>
            </a:endParaRPr>
          </a:p>
          <a:p>
            <a:pPr marL="0" indent="0">
              <a:buNone/>
            </a:pPr>
            <a:endParaRPr lang="fr-FR" sz="1600" dirty="0">
              <a:solidFill>
                <a:srgbClr val="002060"/>
              </a:solidFill>
              <a:latin typeface="Arial Black" panose="020B0A04020102020204" pitchFamily="34" charset="0"/>
            </a:endParaRPr>
          </a:p>
        </p:txBody>
      </p:sp>
    </p:spTree>
    <p:extLst>
      <p:ext uri="{BB962C8B-B14F-4D97-AF65-F5344CB8AC3E}">
        <p14:creationId xmlns:p14="http://schemas.microsoft.com/office/powerpoint/2010/main" val="3693322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40183-98AF-438D-AC1C-0AF4CC28DBD3}"/>
              </a:ext>
            </a:extLst>
          </p:cNvPr>
          <p:cNvSpPr>
            <a:spLocks noGrp="1"/>
          </p:cNvSpPr>
          <p:nvPr>
            <p:ph type="title"/>
          </p:nvPr>
        </p:nvSpPr>
        <p:spPr/>
        <p:txBody>
          <a:bodyPr rtlCol="0">
            <a:normAutofit/>
          </a:bodyPr>
          <a:lstStyle/>
          <a:p>
            <a:br>
              <a:rPr lang="fr-FR" sz="4000" b="1" dirty="0"/>
            </a:br>
            <a:endParaRPr lang="fr" sz="4000" dirty="0">
              <a:latin typeface="Bodoni MT" panose="02070603080606020203" pitchFamily="18" charset="0"/>
            </a:endParaRPr>
          </a:p>
        </p:txBody>
      </p:sp>
      <p:sp>
        <p:nvSpPr>
          <p:cNvPr id="3" name="Espace réservé du contenu 2">
            <a:extLst>
              <a:ext uri="{FF2B5EF4-FFF2-40B4-BE49-F238E27FC236}">
                <a16:creationId xmlns:a16="http://schemas.microsoft.com/office/drawing/2014/main" id="{1591ED45-72A6-42D8-9A05-3FA6D37BEF73}"/>
              </a:ext>
            </a:extLst>
          </p:cNvPr>
          <p:cNvSpPr>
            <a:spLocks noGrp="1"/>
          </p:cNvSpPr>
          <p:nvPr>
            <p:ph idx="1"/>
          </p:nvPr>
        </p:nvSpPr>
        <p:spPr>
          <a:xfrm>
            <a:off x="940158" y="0"/>
            <a:ext cx="10489842" cy="1571223"/>
          </a:xfrm>
        </p:spPr>
        <p:txBody>
          <a:bodyPr rtlCol="0">
            <a:noAutofit/>
          </a:bodyPr>
          <a:lstStyle/>
          <a:p>
            <a:pPr marL="0" indent="0" algn="ctr">
              <a:buNone/>
            </a:pPr>
            <a:r>
              <a:rPr lang="fr-FR" b="1" dirty="0">
                <a:solidFill>
                  <a:srgbClr val="FFC000"/>
                </a:solidFill>
                <a:latin typeface="Constantia" panose="02030602050306030303" pitchFamily="18" charset="0"/>
              </a:rPr>
              <a:t>3.3  illustration graphique</a:t>
            </a:r>
          </a:p>
          <a:p>
            <a:r>
              <a:rPr lang="fr-FR" dirty="0">
                <a:solidFill>
                  <a:srgbClr val="002060"/>
                </a:solidFill>
                <a:latin typeface="Constantia" panose="02030602050306030303" pitchFamily="18" charset="0"/>
              </a:rPr>
              <a:t>L’analyse du tableau des données permet d’observer l’impact du </a:t>
            </a:r>
            <a:r>
              <a:rPr lang="fr-FR" b="1" dirty="0">
                <a:solidFill>
                  <a:srgbClr val="002060"/>
                </a:solidFill>
                <a:latin typeface="Constantia" panose="02030602050306030303" pitchFamily="18" charset="0"/>
              </a:rPr>
              <a:t>CCF</a:t>
            </a:r>
            <a:r>
              <a:rPr lang="fr-FR" dirty="0">
                <a:solidFill>
                  <a:srgbClr val="002060"/>
                </a:solidFill>
                <a:latin typeface="Constantia" panose="02030602050306030303" pitchFamily="18" charset="0"/>
              </a:rPr>
              <a:t> sur l’</a:t>
            </a:r>
            <a:r>
              <a:rPr lang="fr-FR" b="1" dirty="0">
                <a:solidFill>
                  <a:srgbClr val="002060"/>
                </a:solidFill>
                <a:latin typeface="Constantia" panose="02030602050306030303" pitchFamily="18" charset="0"/>
              </a:rPr>
              <a:t>EAD</a:t>
            </a:r>
            <a:r>
              <a:rPr lang="fr-FR" dirty="0">
                <a:solidFill>
                  <a:srgbClr val="002060"/>
                </a:solidFill>
                <a:latin typeface="Constantia" panose="02030602050306030303" pitchFamily="18" charset="0"/>
              </a:rPr>
              <a:t> selon le type d’engagement. Cette relation peut être illustrée par des courbes de tendance :</a:t>
            </a:r>
          </a:p>
          <a:p>
            <a:pPr marL="0" indent="0">
              <a:buNone/>
            </a:pPr>
            <a:endParaRPr lang="fr-FR" sz="1600" dirty="0">
              <a:solidFill>
                <a:srgbClr val="002060"/>
              </a:solidFill>
              <a:latin typeface="Arial Black" panose="020B0A04020102020204" pitchFamily="34" charset="0"/>
            </a:endParaRPr>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212" y="1433512"/>
            <a:ext cx="6505575" cy="4439254"/>
          </a:xfrm>
          <a:prstGeom prst="rect">
            <a:avLst/>
          </a:prstGeom>
        </p:spPr>
      </p:pic>
    </p:spTree>
    <p:extLst>
      <p:ext uri="{BB962C8B-B14F-4D97-AF65-F5344CB8AC3E}">
        <p14:creationId xmlns:p14="http://schemas.microsoft.com/office/powerpoint/2010/main" val="3390823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40183-98AF-438D-AC1C-0AF4CC28DBD3}"/>
              </a:ext>
            </a:extLst>
          </p:cNvPr>
          <p:cNvSpPr>
            <a:spLocks noGrp="1"/>
          </p:cNvSpPr>
          <p:nvPr>
            <p:ph type="title"/>
          </p:nvPr>
        </p:nvSpPr>
        <p:spPr/>
        <p:txBody>
          <a:bodyPr rtlCol="0">
            <a:normAutofit/>
          </a:bodyPr>
          <a:lstStyle/>
          <a:p>
            <a:br>
              <a:rPr lang="fr-FR" sz="4000" b="1" dirty="0"/>
            </a:br>
            <a:endParaRPr lang="fr" sz="4000" dirty="0">
              <a:latin typeface="Bodoni MT" panose="02070603080606020203" pitchFamily="18" charset="0"/>
            </a:endParaRPr>
          </a:p>
        </p:txBody>
      </p:sp>
      <p:sp>
        <p:nvSpPr>
          <p:cNvPr id="3" name="Espace réservé du contenu 2">
            <a:extLst>
              <a:ext uri="{FF2B5EF4-FFF2-40B4-BE49-F238E27FC236}">
                <a16:creationId xmlns:a16="http://schemas.microsoft.com/office/drawing/2014/main" id="{1591ED45-72A6-42D8-9A05-3FA6D37BEF73}"/>
              </a:ext>
            </a:extLst>
          </p:cNvPr>
          <p:cNvSpPr>
            <a:spLocks noGrp="1"/>
          </p:cNvSpPr>
          <p:nvPr>
            <p:ph idx="1"/>
          </p:nvPr>
        </p:nvSpPr>
        <p:spPr>
          <a:xfrm>
            <a:off x="940157" y="-1"/>
            <a:ext cx="10985679" cy="6858001"/>
          </a:xfrm>
        </p:spPr>
        <p:txBody>
          <a:bodyPr rtlCol="0">
            <a:noAutofit/>
          </a:bodyPr>
          <a:lstStyle/>
          <a:p>
            <a:r>
              <a:rPr lang="fr-FR" b="1" dirty="0">
                <a:solidFill>
                  <a:srgbClr val="002060"/>
                </a:solidFill>
              </a:rPr>
              <a:t>Interprétation du graphique :</a:t>
            </a:r>
          </a:p>
          <a:p>
            <a:r>
              <a:rPr lang="fr-FR" b="1" dirty="0">
                <a:solidFill>
                  <a:srgbClr val="002060"/>
                </a:solidFill>
              </a:rPr>
              <a:t>Corrélation positive entre Montant d'Engagement et EAD :</a:t>
            </a:r>
            <a:endParaRPr lang="fr-FR" dirty="0">
              <a:solidFill>
                <a:srgbClr val="002060"/>
              </a:solidFill>
            </a:endParaRPr>
          </a:p>
          <a:p>
            <a:pPr lvl="1"/>
            <a:r>
              <a:rPr lang="fr-FR" sz="2000" dirty="0">
                <a:solidFill>
                  <a:srgbClr val="002060"/>
                </a:solidFill>
              </a:rPr>
              <a:t>Plus le montant de l'engagement est élevé, plus l'exposition en cas de défaut (EAD) augmente.</a:t>
            </a:r>
          </a:p>
          <a:p>
            <a:pPr lvl="1"/>
            <a:r>
              <a:rPr lang="fr-FR" sz="2000" dirty="0">
                <a:solidFill>
                  <a:srgbClr val="002060"/>
                </a:solidFill>
              </a:rPr>
              <a:t>Cela est logique, car un engagement plus important implique un risque plus grand pour la banque.</a:t>
            </a:r>
          </a:p>
          <a:p>
            <a:r>
              <a:rPr lang="fr-FR" b="1" dirty="0">
                <a:solidFill>
                  <a:srgbClr val="002060"/>
                </a:solidFill>
              </a:rPr>
              <a:t>Différences entre les types d'engagements :</a:t>
            </a:r>
            <a:endParaRPr lang="fr-FR" dirty="0">
              <a:solidFill>
                <a:srgbClr val="002060"/>
              </a:solidFill>
            </a:endParaRPr>
          </a:p>
          <a:p>
            <a:pPr lvl="1"/>
            <a:r>
              <a:rPr lang="fr-FR" sz="2000" dirty="0">
                <a:solidFill>
                  <a:srgbClr val="002060"/>
                </a:solidFill>
              </a:rPr>
              <a:t>Les courbes de régression colorées montrent que chaque </a:t>
            </a:r>
            <a:r>
              <a:rPr lang="fr-FR" sz="2000" b="1" dirty="0">
                <a:solidFill>
                  <a:srgbClr val="002060"/>
                </a:solidFill>
              </a:rPr>
              <a:t>Type Engagement</a:t>
            </a:r>
            <a:r>
              <a:rPr lang="fr-FR" sz="2000" dirty="0">
                <a:solidFill>
                  <a:srgbClr val="002060"/>
                </a:solidFill>
              </a:rPr>
              <a:t> suit une tendance similaire, mais avec des variations.</a:t>
            </a:r>
          </a:p>
          <a:p>
            <a:pPr lvl="1"/>
            <a:r>
              <a:rPr lang="fr-FR" sz="2000" b="1" dirty="0">
                <a:solidFill>
                  <a:srgbClr val="002060"/>
                </a:solidFill>
              </a:rPr>
              <a:t>Garantie (vert) et Lettre de crédit (bleu) :</a:t>
            </a:r>
            <a:r>
              <a:rPr lang="fr-FR" sz="2000" dirty="0">
                <a:solidFill>
                  <a:srgbClr val="002060"/>
                </a:solidFill>
              </a:rPr>
              <a:t> ces engagements semblent avoir une conversion plus directe en EAD (probablement CCF = 1).</a:t>
            </a:r>
          </a:p>
          <a:p>
            <a:pPr lvl="1"/>
            <a:r>
              <a:rPr lang="fr-FR" sz="2000" b="1" dirty="0">
                <a:solidFill>
                  <a:srgbClr val="002060"/>
                </a:solidFill>
              </a:rPr>
              <a:t>Ligne de crédit (violet) et Engagement conditionnel (rouge) :</a:t>
            </a:r>
            <a:r>
              <a:rPr lang="fr-FR" sz="2000" dirty="0">
                <a:solidFill>
                  <a:srgbClr val="002060"/>
                </a:solidFill>
              </a:rPr>
              <a:t> l'EAD semble croître plus lentement, ce qui signifie que le CCF appliqué est plus faible (0.2 ou 0.5 dans certains cas).</a:t>
            </a:r>
          </a:p>
          <a:p>
            <a:r>
              <a:rPr lang="fr-FR" b="1" dirty="0">
                <a:solidFill>
                  <a:srgbClr val="002060"/>
                </a:solidFill>
              </a:rPr>
              <a:t>Zone grisée autour des courbes :</a:t>
            </a:r>
            <a:endParaRPr lang="fr-FR" dirty="0">
              <a:solidFill>
                <a:srgbClr val="002060"/>
              </a:solidFill>
            </a:endParaRPr>
          </a:p>
          <a:p>
            <a:pPr lvl="1"/>
            <a:r>
              <a:rPr lang="fr-FR" sz="2000" dirty="0">
                <a:solidFill>
                  <a:srgbClr val="002060"/>
                </a:solidFill>
              </a:rPr>
              <a:t>Cette zone représente l'</a:t>
            </a:r>
            <a:r>
              <a:rPr lang="fr-FR" sz="2000" b="1" dirty="0">
                <a:solidFill>
                  <a:srgbClr val="002060"/>
                </a:solidFill>
              </a:rPr>
              <a:t>intervalle de confiance</a:t>
            </a:r>
            <a:r>
              <a:rPr lang="fr-FR" sz="2000" dirty="0">
                <a:solidFill>
                  <a:srgbClr val="002060"/>
                </a:solidFill>
              </a:rPr>
              <a:t> de la régression linéaire.</a:t>
            </a:r>
          </a:p>
          <a:p>
            <a:pPr lvl="1"/>
            <a:r>
              <a:rPr lang="fr-FR" sz="2000" dirty="0">
                <a:solidFill>
                  <a:srgbClr val="002060"/>
                </a:solidFill>
              </a:rPr>
              <a:t>Plus la zone est large, plus la variabilité des données est grande (moins la prévision est précise).</a:t>
            </a:r>
          </a:p>
          <a:p>
            <a:pPr lvl="1"/>
            <a:r>
              <a:rPr lang="fr-FR" sz="2000" dirty="0">
                <a:solidFill>
                  <a:srgbClr val="002060"/>
                </a:solidFill>
              </a:rPr>
              <a:t>Ici, on observe une variabilité plus importante pour certains engagements, ce qui peut indiquer des facteurs non pris en compte influençant l'EAD.</a:t>
            </a:r>
            <a:endParaRPr lang="fr-FR" b="1" dirty="0">
              <a:solidFill>
                <a:srgbClr val="002060"/>
              </a:solidFill>
            </a:endParaRPr>
          </a:p>
          <a:p>
            <a:pPr marL="0" indent="0" algn="ctr">
              <a:buNone/>
            </a:pPr>
            <a:endParaRPr lang="fr-FR" sz="2800" b="1" dirty="0">
              <a:solidFill>
                <a:srgbClr val="002060"/>
              </a:solidFill>
              <a:latin typeface="Constantia" panose="02030602050306030303" pitchFamily="18" charset="0"/>
            </a:endParaRPr>
          </a:p>
        </p:txBody>
      </p:sp>
    </p:spTree>
    <p:extLst>
      <p:ext uri="{BB962C8B-B14F-4D97-AF65-F5344CB8AC3E}">
        <p14:creationId xmlns:p14="http://schemas.microsoft.com/office/powerpoint/2010/main" val="1663038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40183-98AF-438D-AC1C-0AF4CC28DBD3}"/>
              </a:ext>
            </a:extLst>
          </p:cNvPr>
          <p:cNvSpPr>
            <a:spLocks noGrp="1"/>
          </p:cNvSpPr>
          <p:nvPr>
            <p:ph type="title"/>
          </p:nvPr>
        </p:nvSpPr>
        <p:spPr>
          <a:xfrm>
            <a:off x="1251678" y="369133"/>
            <a:ext cx="10178322" cy="1492132"/>
          </a:xfrm>
        </p:spPr>
        <p:txBody>
          <a:bodyPr rtlCol="0">
            <a:normAutofit/>
          </a:bodyPr>
          <a:lstStyle/>
          <a:p>
            <a:br>
              <a:rPr lang="fr-FR" sz="4000" b="1" dirty="0"/>
            </a:br>
            <a:endParaRPr lang="fr" sz="4000" dirty="0">
              <a:latin typeface="Bodoni MT" panose="02070603080606020203" pitchFamily="18" charset="0"/>
            </a:endParaRPr>
          </a:p>
        </p:txBody>
      </p:sp>
      <p:sp>
        <p:nvSpPr>
          <p:cNvPr id="3" name="Espace réservé du contenu 2">
            <a:extLst>
              <a:ext uri="{FF2B5EF4-FFF2-40B4-BE49-F238E27FC236}">
                <a16:creationId xmlns:a16="http://schemas.microsoft.com/office/drawing/2014/main" id="{1591ED45-72A6-42D8-9A05-3FA6D37BEF73}"/>
              </a:ext>
            </a:extLst>
          </p:cNvPr>
          <p:cNvSpPr>
            <a:spLocks noGrp="1"/>
          </p:cNvSpPr>
          <p:nvPr>
            <p:ph idx="1"/>
          </p:nvPr>
        </p:nvSpPr>
        <p:spPr>
          <a:xfrm>
            <a:off x="940158" y="656824"/>
            <a:ext cx="10489842" cy="4881092"/>
          </a:xfrm>
        </p:spPr>
        <p:txBody>
          <a:bodyPr rtlCol="0">
            <a:noAutofit/>
          </a:bodyPr>
          <a:lstStyle/>
          <a:p>
            <a:pPr marL="0" indent="0" algn="ctr">
              <a:buNone/>
            </a:pPr>
            <a:r>
              <a:rPr lang="fr-FR" sz="2800" b="1" dirty="0">
                <a:solidFill>
                  <a:srgbClr val="FFC000"/>
                </a:solidFill>
                <a:latin typeface="Constantia" panose="02030602050306030303" pitchFamily="18" charset="0"/>
              </a:rPr>
              <a:t>4. Conclusion</a:t>
            </a:r>
          </a:p>
          <a:p>
            <a:pPr marL="0" indent="0">
              <a:buNone/>
            </a:pPr>
            <a:r>
              <a:rPr lang="fr-FR" dirty="0">
                <a:solidFill>
                  <a:srgbClr val="002060"/>
                </a:solidFill>
                <a:latin typeface="Constantia" panose="02030602050306030303" pitchFamily="18" charset="0"/>
              </a:rPr>
              <a:t>Le facteur de conversion de crédit (CCF) joue un rôle clé dans l’évaluation de l’exposition au risque de crédit. Grâce à une modélisation statistique appropriée, les banques peuvent affiner leurs estimations et mieux gérer leurs exigences en capital.</a:t>
            </a:r>
          </a:p>
          <a:p>
            <a:pPr marL="0" indent="0">
              <a:buNone/>
            </a:pPr>
            <a:r>
              <a:rPr lang="fr-FR" dirty="0">
                <a:solidFill>
                  <a:srgbClr val="002060"/>
                </a:solidFill>
                <a:latin typeface="Constantia" panose="02030602050306030303" pitchFamily="18" charset="0"/>
              </a:rPr>
              <a:t>L’analyse de l’EAD en fonction du CCF permet ainsi d’améliorer la prise de décision et de renforcer la résilience financière des institutions bancaires face aux risques de crédit.</a:t>
            </a:r>
          </a:p>
          <a:p>
            <a:pPr marL="0" indent="0">
              <a:buNone/>
            </a:pPr>
            <a:endParaRPr lang="fr-FR" dirty="0">
              <a:solidFill>
                <a:srgbClr val="002060"/>
              </a:solidFill>
              <a:latin typeface="Constantia" panose="02030602050306030303" pitchFamily="18" charset="0"/>
            </a:endParaRPr>
          </a:p>
        </p:txBody>
      </p:sp>
    </p:spTree>
    <p:extLst>
      <p:ext uri="{BB962C8B-B14F-4D97-AF65-F5344CB8AC3E}">
        <p14:creationId xmlns:p14="http://schemas.microsoft.com/office/powerpoint/2010/main" val="2103929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hidden="1">
            <a:extLst>
              <a:ext uri="{FF2B5EF4-FFF2-40B4-BE49-F238E27FC236}">
                <a16:creationId xmlns:a16="http://schemas.microsoft.com/office/drawing/2014/main" id="{28A3E57F-DE9A-45F6-BEF3-EF8EEA07E065}"/>
              </a:ext>
            </a:extLst>
          </p:cNvPr>
          <p:cNvSpPr>
            <a:spLocks noGrp="1"/>
          </p:cNvSpPr>
          <p:nvPr>
            <p:ph type="title"/>
          </p:nvPr>
        </p:nvSpPr>
        <p:spPr>
          <a:xfrm>
            <a:off x="2802662" y="756357"/>
            <a:ext cx="8187071" cy="1253066"/>
          </a:xfrm>
        </p:spPr>
        <p:txBody>
          <a:bodyPr rtlCol="0">
            <a:normAutofit fontScale="90000"/>
          </a:bodyPr>
          <a:lstStyle/>
          <a:p>
            <a:pPr rtl="0"/>
            <a:r>
              <a:rPr lang="fr"/>
              <a:t>Titre de la diapositive</a:t>
            </a:r>
          </a:p>
        </p:txBody>
      </p:sp>
      <p:sp>
        <p:nvSpPr>
          <p:cNvPr id="6" name="Zone de texte 5">
            <a:extLst>
              <a:ext uri="{FF2B5EF4-FFF2-40B4-BE49-F238E27FC236}">
                <a16:creationId xmlns:a16="http://schemas.microsoft.com/office/drawing/2014/main" id="{51CA1257-66A3-465A-A773-E2D1F421929F}"/>
              </a:ext>
            </a:extLst>
          </p:cNvPr>
          <p:cNvSpPr txBox="1"/>
          <p:nvPr/>
        </p:nvSpPr>
        <p:spPr>
          <a:xfrm>
            <a:off x="3513005" y="2360809"/>
            <a:ext cx="8487104" cy="707886"/>
          </a:xfrm>
          <a:prstGeom prst="rect">
            <a:avLst/>
          </a:prstGeom>
          <a:noFill/>
        </p:spPr>
        <p:txBody>
          <a:bodyPr wrap="square" rtlCol="0">
            <a:spAutoFit/>
          </a:bodyPr>
          <a:lstStyle/>
          <a:p>
            <a:pPr rtl="0"/>
            <a:r>
              <a:rPr lang="fr-FR" sz="4000" dirty="0">
                <a:latin typeface="Bodoni MT" panose="02070603080606020203" pitchFamily="18" charset="0"/>
              </a:rPr>
              <a:t>THANK YOU!</a:t>
            </a:r>
            <a:endParaRPr lang="fr-FR" sz="900" dirty="0"/>
          </a:p>
        </p:txBody>
      </p:sp>
    </p:spTree>
    <p:extLst>
      <p:ext uri="{BB962C8B-B14F-4D97-AF65-F5344CB8AC3E}">
        <p14:creationId xmlns:p14="http://schemas.microsoft.com/office/powerpoint/2010/main" val="1059349071"/>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55916208_win32_fixed" id="{730B505B-88E8-4A70-9277-B3B3E529522D}" vid="{57DC1FE5-D34D-442D-8FDC-B221A6146DA3}"/>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1151</Words>
  <Application>Microsoft Office PowerPoint</Application>
  <PresentationFormat>Grand écran</PresentationFormat>
  <Paragraphs>104</Paragraphs>
  <Slides>17</Slides>
  <Notes>17</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17</vt:i4>
      </vt:variant>
    </vt:vector>
  </HeadingPairs>
  <TitlesOfParts>
    <vt:vector size="27" baseType="lpstr">
      <vt:lpstr>Algerian</vt:lpstr>
      <vt:lpstr>Arial</vt:lpstr>
      <vt:lpstr>Arial Black</vt:lpstr>
      <vt:lpstr>Bahnschrift</vt:lpstr>
      <vt:lpstr>Bodoni MT</vt:lpstr>
      <vt:lpstr>Calibri</vt:lpstr>
      <vt:lpstr>Constantia</vt:lpstr>
      <vt:lpstr>Gill Sans MT</vt:lpstr>
      <vt:lpstr>Impact</vt:lpstr>
      <vt:lpstr>Badge</vt:lpstr>
      <vt:lpstr>INSTITUT SUPERIEUR DE STATISTIQUE D’econometrie et de data science(insseds)</vt:lpstr>
      <vt:lpstr>Modélisation de l'exposition en cas de défaut (EAD) par le facteur de conversion de crédit (CCF) </vt:lpstr>
      <vt:lpstr>PLAN </vt:lpstr>
      <vt:lpstr>Introduction </vt:lpstr>
      <vt:lpstr>1. Définition et concepts clés</vt:lpstr>
      <vt:lpstr>2. Importance de la modélisation de l’EAD par le CCF </vt:lpstr>
      <vt:lpstr>3. Modélisation statistique de l’EAD en fonction du CCF </vt:lpstr>
      <vt:lpstr>3.1. Modélisation statistique de l’EAD en fonction du CCF </vt:lpstr>
      <vt:lpstr>3.3 Modélisation sous R  </vt:lpstr>
      <vt:lpstr>Présentation PowerPoint</vt:lpstr>
      <vt:lpstr>TABLEAU DE L ’EXPOSITION AU Défaut (ead)</vt:lpstr>
      <vt:lpstr>3.2 Interprétation des résultats </vt:lpstr>
      <vt:lpstr> </vt:lpstr>
      <vt:lpstr> </vt:lpstr>
      <vt:lpstr> </vt:lpstr>
      <vt:lpstr> </vt:lpstr>
      <vt:lpstr>Titre de la diapositive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2021-11-12T01:05:13Z</dcterms:created>
  <dcterms:modified xsi:type="dcterms:W3CDTF">2025-09-18T14:09:51Z</dcterms:modified>
</cp:coreProperties>
</file>