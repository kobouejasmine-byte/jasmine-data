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14"/>
  </p:notesMasterIdLst>
  <p:sldIdLst>
    <p:sldId id="256" r:id="rId2"/>
    <p:sldId id="257" r:id="rId3"/>
    <p:sldId id="258" r:id="rId4"/>
    <p:sldId id="259" r:id="rId5"/>
    <p:sldId id="261" r:id="rId6"/>
    <p:sldId id="262" r:id="rId7"/>
    <p:sldId id="263" r:id="rId8"/>
    <p:sldId id="265" r:id="rId9"/>
    <p:sldId id="266" r:id="rId10"/>
    <p:sldId id="267" r:id="rId11"/>
    <p:sldId id="268" r:id="rId12"/>
    <p:sldId id="269" r:id="rId13"/>
  </p:sldIdLst>
  <p:sldSz cx="9144000" cy="5143500" type="screen16x9"/>
  <p:notesSz cx="6858000" cy="9144000"/>
  <p:embeddedFontLst>
    <p:embeddedFont>
      <p:font typeface="Agency FB" panose="020B0503020202020204" pitchFamily="34" charset="0"/>
      <p:regular r:id="rId15"/>
      <p:bold r:id="rId16"/>
    </p:embeddedFont>
    <p:embeddedFont>
      <p:font typeface="Arial Black" panose="020B0A04020102020204" pitchFamily="34" charset="0"/>
      <p:bold r:id="rId17"/>
    </p:embeddedFont>
    <p:embeddedFont>
      <p:font typeface="Arial Rounded MT Bold" panose="020F0704030504030204" pitchFamily="34" charset="0"/>
      <p:regular r:id="rId18"/>
    </p:embeddedFont>
    <p:embeddedFont>
      <p:font typeface="Impact" panose="020B0806030902050204" pitchFamily="34" charset="0"/>
      <p:regular r:id="rId19"/>
    </p:embeddedFont>
    <p:embeddedFont>
      <p:font typeface="Lato" panose="020F0502020204030203" pitchFamily="34" charset="0"/>
      <p:regular r:id="rId20"/>
      <p:bold r:id="rId21"/>
      <p:italic r:id="rId22"/>
      <p:boldItalic r:id="rId23"/>
    </p:embeddedFont>
    <p:embeddedFont>
      <p:font typeface="Roboto Condensed Light" panose="02000000000000000000" pitchFamily="2" charset="0"/>
      <p:regular r:id="rId24"/>
    </p:embeddedFont>
    <p:embeddedFont>
      <p:font typeface="Sitka Subheading" panose="02000505000000020004" pitchFamily="2" charset="0"/>
      <p:regular r:id="rId25"/>
      <p:bold r:id="rId26"/>
      <p:italic r:id="rId27"/>
      <p:boldItalic r:id="rId28"/>
    </p:embeddedFont>
    <p:embeddedFont>
      <p:font typeface="Stencil" panose="040409050D0802020404" pitchFamily="82" charset="0"/>
      <p:regular r:id="rId29"/>
    </p:embeddedFont>
    <p:embeddedFont>
      <p:font typeface="Viga" panose="020B0604020202020204" charset="0"/>
      <p:regular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50D8077-F26D-4B04-99A9-C097E5D3B6D8}">
  <a:tblStyle styleId="{350D8077-F26D-4B04-99A9-C097E5D3B6D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189" autoAdjust="0"/>
    <p:restoredTop sz="94660"/>
  </p:normalViewPr>
  <p:slideViewPr>
    <p:cSldViewPr snapToGrid="0">
      <p:cViewPr varScale="1">
        <p:scale>
          <a:sx n="95" d="100"/>
          <a:sy n="95" d="100"/>
        </p:scale>
        <p:origin x="31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dirty="0"/>
          </a:p>
        </p:txBody>
      </p:sp>
    </p:spTree>
    <p:extLst>
      <p:ext uri="{BB962C8B-B14F-4D97-AF65-F5344CB8AC3E}">
        <p14:creationId xmlns:p14="http://schemas.microsoft.com/office/powerpoint/2010/main" val="165768170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gency FB" panose="020B0503020202020204" pitchFamily="34" charset="0"/>
        <a:ea typeface="Agency FB" panose="020B0503020202020204" pitchFamily="34"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e819e7bb23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e819e7bb23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82982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e9ba7db025_0_2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e9ba7db025_0_2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15768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e9ba7db025_0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e9ba7db025_0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fr-FR"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920124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e9ba7db025_0_4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e9ba7db025_0_4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52851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e9ba7db025_0_4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e9ba7db025_0_4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29880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e9fa8e32c0_0_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e9fa8e32c0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74342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e9fa8e32c0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e9fa8e32c0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05563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e9fa8e32c0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e9fa8e32c0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221672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e9fa8e32c0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e9fa8e32c0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27249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e9fa8e32c0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e9fa8e32c0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264455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e9fa8e32c0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e9fa8e32c0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936643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e9fa8e32c0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e9fa8e32c0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63892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grpSp>
        <p:nvGrpSpPr>
          <p:cNvPr id="10" name="Google Shape;10;p2"/>
          <p:cNvGrpSpPr/>
          <p:nvPr/>
        </p:nvGrpSpPr>
        <p:grpSpPr>
          <a:xfrm>
            <a:off x="439141" y="549623"/>
            <a:ext cx="8265969" cy="4044356"/>
            <a:chOff x="3237025" y="2070300"/>
            <a:chExt cx="3165825" cy="1425575"/>
          </a:xfrm>
        </p:grpSpPr>
        <p:sp>
          <p:nvSpPr>
            <p:cNvPr id="11" name="Google Shape;11;p2"/>
            <p:cNvSpPr/>
            <p:nvPr/>
          </p:nvSpPr>
          <p:spPr>
            <a:xfrm>
              <a:off x="3282500" y="2871225"/>
              <a:ext cx="576325" cy="577275"/>
            </a:xfrm>
            <a:custGeom>
              <a:avLst/>
              <a:gdLst/>
              <a:ahLst/>
              <a:cxnLst/>
              <a:rect l="l" t="t" r="r" b="b"/>
              <a:pathLst>
                <a:path w="23053" h="23091" extrusionOk="0">
                  <a:moveTo>
                    <a:pt x="1" y="759"/>
                  </a:moveTo>
                  <a:lnTo>
                    <a:pt x="22294" y="23090"/>
                  </a:lnTo>
                  <a:cubicBezTo>
                    <a:pt x="22294" y="23090"/>
                    <a:pt x="23053" y="11640"/>
                    <a:pt x="17252" y="5839"/>
                  </a:cubicBezTo>
                  <a:cubicBezTo>
                    <a:pt x="11451" y="1"/>
                    <a:pt x="1" y="759"/>
                    <a:pt x="1" y="75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2" name="Google Shape;12;p2"/>
            <p:cNvSpPr/>
            <p:nvPr/>
          </p:nvSpPr>
          <p:spPr>
            <a:xfrm>
              <a:off x="5781025" y="2116750"/>
              <a:ext cx="577275" cy="577250"/>
            </a:xfrm>
            <a:custGeom>
              <a:avLst/>
              <a:gdLst/>
              <a:ahLst/>
              <a:cxnLst/>
              <a:rect l="l" t="t" r="r" b="b"/>
              <a:pathLst>
                <a:path w="23091" h="23090" extrusionOk="0">
                  <a:moveTo>
                    <a:pt x="23090" y="22332"/>
                  </a:moveTo>
                  <a:lnTo>
                    <a:pt x="759" y="0"/>
                  </a:lnTo>
                  <a:cubicBezTo>
                    <a:pt x="759" y="0"/>
                    <a:pt x="1" y="11450"/>
                    <a:pt x="5802" y="17289"/>
                  </a:cubicBezTo>
                  <a:cubicBezTo>
                    <a:pt x="11640" y="23090"/>
                    <a:pt x="23090" y="22332"/>
                    <a:pt x="23090" y="2233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3" name="Google Shape;13;p2"/>
            <p:cNvSpPr/>
            <p:nvPr/>
          </p:nvSpPr>
          <p:spPr>
            <a:xfrm>
              <a:off x="3237025" y="2070300"/>
              <a:ext cx="3165825" cy="1425575"/>
            </a:xfrm>
            <a:custGeom>
              <a:avLst/>
              <a:gdLst/>
              <a:ahLst/>
              <a:cxnLst/>
              <a:rect l="l" t="t" r="r" b="b"/>
              <a:pathLst>
                <a:path w="126633" h="57023" extrusionOk="0">
                  <a:moveTo>
                    <a:pt x="109685" y="17100"/>
                  </a:moveTo>
                  <a:cubicBezTo>
                    <a:pt x="102519" y="9934"/>
                    <a:pt x="107448" y="1"/>
                    <a:pt x="97097" y="266"/>
                  </a:cubicBezTo>
                  <a:lnTo>
                    <a:pt x="97097" y="228"/>
                  </a:lnTo>
                  <a:lnTo>
                    <a:pt x="28398" y="228"/>
                  </a:lnTo>
                  <a:cubicBezTo>
                    <a:pt x="13156" y="228"/>
                    <a:pt x="683" y="12285"/>
                    <a:pt x="152" y="27526"/>
                  </a:cubicBezTo>
                  <a:cubicBezTo>
                    <a:pt x="0" y="37611"/>
                    <a:pt x="9858" y="32796"/>
                    <a:pt x="16985" y="39924"/>
                  </a:cubicBezTo>
                  <a:cubicBezTo>
                    <a:pt x="24113" y="47052"/>
                    <a:pt x="19222" y="57023"/>
                    <a:pt x="29573" y="56758"/>
                  </a:cubicBezTo>
                  <a:lnTo>
                    <a:pt x="29573" y="56758"/>
                  </a:lnTo>
                  <a:lnTo>
                    <a:pt x="98273" y="56758"/>
                  </a:lnTo>
                  <a:cubicBezTo>
                    <a:pt x="113514" y="56758"/>
                    <a:pt x="125988" y="44701"/>
                    <a:pt x="126519" y="29498"/>
                  </a:cubicBezTo>
                  <a:cubicBezTo>
                    <a:pt x="126632" y="19412"/>
                    <a:pt x="116813" y="24227"/>
                    <a:pt x="109685" y="17100"/>
                  </a:cubicBezTo>
                  <a:close/>
                </a:path>
              </a:pathLst>
            </a:custGeom>
            <a:solidFill>
              <a:schemeClr val="accent1"/>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4" name="Google Shape;14;p2"/>
            <p:cNvSpPr/>
            <p:nvPr/>
          </p:nvSpPr>
          <p:spPr>
            <a:xfrm>
              <a:off x="3279675" y="2888300"/>
              <a:ext cx="560200" cy="561150"/>
            </a:xfrm>
            <a:custGeom>
              <a:avLst/>
              <a:gdLst/>
              <a:ahLst/>
              <a:cxnLst/>
              <a:rect l="l" t="t" r="r" b="b"/>
              <a:pathLst>
                <a:path w="22408" h="22446" extrusionOk="0">
                  <a:moveTo>
                    <a:pt x="0" y="0"/>
                  </a:moveTo>
                  <a:lnTo>
                    <a:pt x="0" y="0"/>
                  </a:lnTo>
                  <a:cubicBezTo>
                    <a:pt x="910" y="1100"/>
                    <a:pt x="2313" y="1744"/>
                    <a:pt x="3640" y="2237"/>
                  </a:cubicBezTo>
                  <a:cubicBezTo>
                    <a:pt x="5005" y="2654"/>
                    <a:pt x="6408" y="2957"/>
                    <a:pt x="7773" y="3337"/>
                  </a:cubicBezTo>
                  <a:cubicBezTo>
                    <a:pt x="9137" y="3716"/>
                    <a:pt x="10427" y="4247"/>
                    <a:pt x="11678" y="4891"/>
                  </a:cubicBezTo>
                  <a:cubicBezTo>
                    <a:pt x="14180" y="6180"/>
                    <a:pt x="16227" y="8228"/>
                    <a:pt x="17554" y="10730"/>
                  </a:cubicBezTo>
                  <a:cubicBezTo>
                    <a:pt x="18199" y="11981"/>
                    <a:pt x="18730" y="13308"/>
                    <a:pt x="19109" y="14635"/>
                  </a:cubicBezTo>
                  <a:cubicBezTo>
                    <a:pt x="19526" y="16000"/>
                    <a:pt x="19791" y="17403"/>
                    <a:pt x="20208" y="18768"/>
                  </a:cubicBezTo>
                  <a:cubicBezTo>
                    <a:pt x="20701" y="20132"/>
                    <a:pt x="21346" y="21497"/>
                    <a:pt x="22407" y="22445"/>
                  </a:cubicBezTo>
                  <a:cubicBezTo>
                    <a:pt x="21535" y="21346"/>
                    <a:pt x="20929" y="20019"/>
                    <a:pt x="20663" y="18654"/>
                  </a:cubicBezTo>
                  <a:cubicBezTo>
                    <a:pt x="20284" y="17289"/>
                    <a:pt x="19981" y="15886"/>
                    <a:pt x="19564" y="14521"/>
                  </a:cubicBezTo>
                  <a:cubicBezTo>
                    <a:pt x="19185" y="13118"/>
                    <a:pt x="18654" y="11791"/>
                    <a:pt x="17971" y="10502"/>
                  </a:cubicBezTo>
                  <a:cubicBezTo>
                    <a:pt x="16606" y="7924"/>
                    <a:pt x="14483" y="5801"/>
                    <a:pt x="11905" y="4436"/>
                  </a:cubicBezTo>
                  <a:cubicBezTo>
                    <a:pt x="10654" y="3792"/>
                    <a:pt x="9289" y="3261"/>
                    <a:pt x="7924" y="2882"/>
                  </a:cubicBezTo>
                  <a:cubicBezTo>
                    <a:pt x="6521" y="2465"/>
                    <a:pt x="5119" y="2161"/>
                    <a:pt x="3792" y="1744"/>
                  </a:cubicBezTo>
                  <a:cubicBezTo>
                    <a:pt x="2389" y="1479"/>
                    <a:pt x="1100" y="872"/>
                    <a:pt x="0" y="0"/>
                  </a:cubicBezTo>
                  <a:close/>
                </a:path>
              </a:pathLst>
            </a:custGeom>
            <a:solidFill>
              <a:schemeClr val="accent3"/>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5" name="Google Shape;15;p2"/>
            <p:cNvSpPr/>
            <p:nvPr/>
          </p:nvSpPr>
          <p:spPr>
            <a:xfrm>
              <a:off x="5800000" y="2117700"/>
              <a:ext cx="561150" cy="560200"/>
            </a:xfrm>
            <a:custGeom>
              <a:avLst/>
              <a:gdLst/>
              <a:ahLst/>
              <a:cxnLst/>
              <a:rect l="l" t="t" r="r" b="b"/>
              <a:pathLst>
                <a:path w="22446" h="22408" extrusionOk="0">
                  <a:moveTo>
                    <a:pt x="0" y="0"/>
                  </a:moveTo>
                  <a:lnTo>
                    <a:pt x="0" y="0"/>
                  </a:lnTo>
                  <a:cubicBezTo>
                    <a:pt x="872" y="1100"/>
                    <a:pt x="1479" y="2389"/>
                    <a:pt x="1744" y="3792"/>
                  </a:cubicBezTo>
                  <a:cubicBezTo>
                    <a:pt x="2161" y="5119"/>
                    <a:pt x="2465" y="6521"/>
                    <a:pt x="2844" y="7886"/>
                  </a:cubicBezTo>
                  <a:cubicBezTo>
                    <a:pt x="3261" y="9289"/>
                    <a:pt x="3792" y="10616"/>
                    <a:pt x="4436" y="11905"/>
                  </a:cubicBezTo>
                  <a:cubicBezTo>
                    <a:pt x="5801" y="14483"/>
                    <a:pt x="7924" y="16569"/>
                    <a:pt x="10502" y="17933"/>
                  </a:cubicBezTo>
                  <a:cubicBezTo>
                    <a:pt x="11791" y="18616"/>
                    <a:pt x="13118" y="19147"/>
                    <a:pt x="14521" y="19526"/>
                  </a:cubicBezTo>
                  <a:cubicBezTo>
                    <a:pt x="15886" y="19943"/>
                    <a:pt x="17289" y="20246"/>
                    <a:pt x="18654" y="20625"/>
                  </a:cubicBezTo>
                  <a:cubicBezTo>
                    <a:pt x="20019" y="20929"/>
                    <a:pt x="21346" y="21535"/>
                    <a:pt x="22445" y="22407"/>
                  </a:cubicBezTo>
                  <a:cubicBezTo>
                    <a:pt x="21497" y="21308"/>
                    <a:pt x="20132" y="20663"/>
                    <a:pt x="18767" y="20170"/>
                  </a:cubicBezTo>
                  <a:cubicBezTo>
                    <a:pt x="17403" y="19753"/>
                    <a:pt x="16000" y="19450"/>
                    <a:pt x="14635" y="19071"/>
                  </a:cubicBezTo>
                  <a:cubicBezTo>
                    <a:pt x="13270" y="18692"/>
                    <a:pt x="11981" y="18199"/>
                    <a:pt x="10730" y="17554"/>
                  </a:cubicBezTo>
                  <a:cubicBezTo>
                    <a:pt x="9479" y="16872"/>
                    <a:pt x="8341" y="16038"/>
                    <a:pt x="7355" y="15052"/>
                  </a:cubicBezTo>
                  <a:cubicBezTo>
                    <a:pt x="6370" y="14066"/>
                    <a:pt x="5536" y="12929"/>
                    <a:pt x="4853" y="11678"/>
                  </a:cubicBezTo>
                  <a:cubicBezTo>
                    <a:pt x="4209" y="10427"/>
                    <a:pt x="3678" y="9137"/>
                    <a:pt x="3299" y="7773"/>
                  </a:cubicBezTo>
                  <a:cubicBezTo>
                    <a:pt x="2920" y="6408"/>
                    <a:pt x="2616" y="5005"/>
                    <a:pt x="2199" y="3640"/>
                  </a:cubicBezTo>
                  <a:cubicBezTo>
                    <a:pt x="1706" y="2313"/>
                    <a:pt x="1100" y="948"/>
                    <a:pt x="0" y="0"/>
                  </a:cubicBezTo>
                  <a:close/>
                </a:path>
              </a:pathLst>
            </a:custGeom>
            <a:solidFill>
              <a:schemeClr val="accent3"/>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grpSp>
      <p:sp>
        <p:nvSpPr>
          <p:cNvPr id="16" name="Google Shape;16;p2"/>
          <p:cNvSpPr txBox="1">
            <a:spLocks noGrp="1"/>
          </p:cNvSpPr>
          <p:nvPr>
            <p:ph type="ctrTitle"/>
          </p:nvPr>
        </p:nvSpPr>
        <p:spPr>
          <a:xfrm>
            <a:off x="2014825" y="1068300"/>
            <a:ext cx="5115000" cy="17220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5700">
                <a:solidFill>
                  <a:schemeClr val="accent3"/>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7" name="Google Shape;17;p2"/>
          <p:cNvSpPr txBox="1">
            <a:spLocks noGrp="1"/>
          </p:cNvSpPr>
          <p:nvPr>
            <p:ph type="subTitle" idx="1"/>
          </p:nvPr>
        </p:nvSpPr>
        <p:spPr>
          <a:xfrm>
            <a:off x="2478900" y="3375463"/>
            <a:ext cx="4186200" cy="3096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1800"/>
              <a:buNone/>
              <a:defRPr>
                <a:solidFill>
                  <a:srgbClr val="215A80"/>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txBox="1">
            <a:spLocks noGrp="1"/>
          </p:cNvSpPr>
          <p:nvPr>
            <p:ph type="subTitle" idx="1"/>
          </p:nvPr>
        </p:nvSpPr>
        <p:spPr>
          <a:xfrm>
            <a:off x="714300" y="1104425"/>
            <a:ext cx="7715400" cy="3500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434343"/>
              </a:buClr>
              <a:buSzPts val="1200"/>
              <a:buAutoNum type="arabicPeriod"/>
              <a:defRPr sz="1200"/>
            </a:lvl1pPr>
            <a:lvl2pPr lvl="1" rtl="0">
              <a:lnSpc>
                <a:spcPct val="100000"/>
              </a:lnSpc>
              <a:spcBef>
                <a:spcPts val="0"/>
              </a:spcBef>
              <a:spcAft>
                <a:spcPts val="0"/>
              </a:spcAft>
              <a:buClr>
                <a:srgbClr val="434343"/>
              </a:buClr>
              <a:buSzPts val="1200"/>
              <a:buFont typeface="Roboto Condensed Light"/>
              <a:buAutoNum type="alphaLcPeriod"/>
              <a:defRPr sz="1200"/>
            </a:lvl2pPr>
            <a:lvl3pPr lvl="2" rtl="0">
              <a:lnSpc>
                <a:spcPct val="100000"/>
              </a:lnSpc>
              <a:spcBef>
                <a:spcPts val="0"/>
              </a:spcBef>
              <a:spcAft>
                <a:spcPts val="0"/>
              </a:spcAft>
              <a:buClr>
                <a:srgbClr val="434343"/>
              </a:buClr>
              <a:buSzPts val="1200"/>
              <a:buFont typeface="Roboto Condensed Light"/>
              <a:buAutoNum type="romanLcPeriod"/>
              <a:defRPr sz="1200"/>
            </a:lvl3pPr>
            <a:lvl4pPr lvl="3" rtl="0">
              <a:lnSpc>
                <a:spcPct val="100000"/>
              </a:lnSpc>
              <a:spcBef>
                <a:spcPts val="0"/>
              </a:spcBef>
              <a:spcAft>
                <a:spcPts val="0"/>
              </a:spcAft>
              <a:buClr>
                <a:srgbClr val="434343"/>
              </a:buClr>
              <a:buSzPts val="1200"/>
              <a:buFont typeface="Roboto Condensed Light"/>
              <a:buAutoNum type="arabicPeriod"/>
              <a:defRPr sz="1200"/>
            </a:lvl4pPr>
            <a:lvl5pPr lvl="4" rtl="0">
              <a:lnSpc>
                <a:spcPct val="100000"/>
              </a:lnSpc>
              <a:spcBef>
                <a:spcPts val="0"/>
              </a:spcBef>
              <a:spcAft>
                <a:spcPts val="0"/>
              </a:spcAft>
              <a:buClr>
                <a:srgbClr val="434343"/>
              </a:buClr>
              <a:buSzPts val="1200"/>
              <a:buFont typeface="Roboto Condensed Light"/>
              <a:buAutoNum type="alphaLcPeriod"/>
              <a:defRPr sz="1200"/>
            </a:lvl5pPr>
            <a:lvl6pPr lvl="5" rtl="0">
              <a:lnSpc>
                <a:spcPct val="100000"/>
              </a:lnSpc>
              <a:spcBef>
                <a:spcPts val="0"/>
              </a:spcBef>
              <a:spcAft>
                <a:spcPts val="0"/>
              </a:spcAft>
              <a:buClr>
                <a:srgbClr val="434343"/>
              </a:buClr>
              <a:buSzPts val="1200"/>
              <a:buFont typeface="Roboto Condensed Light"/>
              <a:buAutoNum type="romanLcPeriod"/>
              <a:defRPr sz="1200"/>
            </a:lvl6pPr>
            <a:lvl7pPr lvl="6" rtl="0">
              <a:lnSpc>
                <a:spcPct val="100000"/>
              </a:lnSpc>
              <a:spcBef>
                <a:spcPts val="0"/>
              </a:spcBef>
              <a:spcAft>
                <a:spcPts val="0"/>
              </a:spcAft>
              <a:buClr>
                <a:srgbClr val="434343"/>
              </a:buClr>
              <a:buSzPts val="1200"/>
              <a:buFont typeface="Roboto Condensed Light"/>
              <a:buAutoNum type="arabicPeriod"/>
              <a:defRPr sz="1200"/>
            </a:lvl7pPr>
            <a:lvl8pPr lvl="7" rtl="0">
              <a:lnSpc>
                <a:spcPct val="100000"/>
              </a:lnSpc>
              <a:spcBef>
                <a:spcPts val="0"/>
              </a:spcBef>
              <a:spcAft>
                <a:spcPts val="0"/>
              </a:spcAft>
              <a:buClr>
                <a:srgbClr val="434343"/>
              </a:buClr>
              <a:buSzPts val="1200"/>
              <a:buFont typeface="Roboto Condensed Light"/>
              <a:buAutoNum type="alphaLcPeriod"/>
              <a:defRPr sz="1200"/>
            </a:lvl8pPr>
            <a:lvl9pPr lvl="8" rtl="0">
              <a:lnSpc>
                <a:spcPct val="100000"/>
              </a:lnSpc>
              <a:spcBef>
                <a:spcPts val="0"/>
              </a:spcBef>
              <a:spcAft>
                <a:spcPts val="0"/>
              </a:spcAft>
              <a:buClr>
                <a:srgbClr val="434343"/>
              </a:buClr>
              <a:buSzPts val="1200"/>
              <a:buFont typeface="Roboto Condensed Light"/>
              <a:buAutoNum type="romanLcPeriod"/>
              <a:defRPr sz="1200"/>
            </a:lvl9pPr>
          </a:lstStyle>
          <a:p>
            <a:endParaRPr/>
          </a:p>
        </p:txBody>
      </p:sp>
      <p:sp>
        <p:nvSpPr>
          <p:cNvPr id="27" name="Google Shape;27;p4"/>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txBox="1">
            <a:spLocks noGrp="1"/>
          </p:cNvSpPr>
          <p:nvPr>
            <p:ph type="title"/>
          </p:nvPr>
        </p:nvSpPr>
        <p:spPr>
          <a:xfrm>
            <a:off x="714300" y="1409700"/>
            <a:ext cx="3419700" cy="7914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sz="37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6" name="Google Shape;46;p9"/>
          <p:cNvSpPr txBox="1">
            <a:spLocks noGrp="1"/>
          </p:cNvSpPr>
          <p:nvPr>
            <p:ph type="subTitle" idx="1"/>
          </p:nvPr>
        </p:nvSpPr>
        <p:spPr>
          <a:xfrm>
            <a:off x="714300" y="2322200"/>
            <a:ext cx="3419700" cy="137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58"/>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59"/>
        <p:cNvGrpSpPr/>
        <p:nvPr/>
      </p:nvGrpSpPr>
      <p:grpSpPr>
        <a:xfrm>
          <a:off x="0" y="0"/>
          <a:ext cx="0" cy="0"/>
          <a:chOff x="0" y="0"/>
          <a:chExt cx="0" cy="0"/>
        </a:xfrm>
      </p:grpSpPr>
      <p:sp>
        <p:nvSpPr>
          <p:cNvPr id="60" name="Google Shape;60;p13"/>
          <p:cNvSpPr txBox="1">
            <a:spLocks noGrp="1"/>
          </p:cNvSpPr>
          <p:nvPr>
            <p:ph type="subTitle" idx="1"/>
          </p:nvPr>
        </p:nvSpPr>
        <p:spPr>
          <a:xfrm>
            <a:off x="1610200" y="1865025"/>
            <a:ext cx="2369700" cy="53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61" name="Google Shape;61;p13"/>
          <p:cNvSpPr txBox="1">
            <a:spLocks noGrp="1"/>
          </p:cNvSpPr>
          <p:nvPr>
            <p:ph type="title"/>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62" name="Google Shape;62;p13"/>
          <p:cNvSpPr txBox="1">
            <a:spLocks noGrp="1"/>
          </p:cNvSpPr>
          <p:nvPr>
            <p:ph type="title" idx="2"/>
          </p:nvPr>
        </p:nvSpPr>
        <p:spPr>
          <a:xfrm>
            <a:off x="1610200" y="1410125"/>
            <a:ext cx="2369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63" name="Google Shape;63;p13"/>
          <p:cNvSpPr txBox="1">
            <a:spLocks noGrp="1"/>
          </p:cNvSpPr>
          <p:nvPr>
            <p:ph type="title" idx="3" hasCustomPrompt="1"/>
          </p:nvPr>
        </p:nvSpPr>
        <p:spPr>
          <a:xfrm>
            <a:off x="714300" y="1702879"/>
            <a:ext cx="724800" cy="530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2900">
                <a:solidFill>
                  <a:schemeClr val="accent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64" name="Google Shape;64;p13"/>
          <p:cNvSpPr txBox="1">
            <a:spLocks noGrp="1"/>
          </p:cNvSpPr>
          <p:nvPr>
            <p:ph type="subTitle" idx="4"/>
          </p:nvPr>
        </p:nvSpPr>
        <p:spPr>
          <a:xfrm>
            <a:off x="1610200" y="3606675"/>
            <a:ext cx="2369700" cy="53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65" name="Google Shape;65;p13"/>
          <p:cNvSpPr txBox="1">
            <a:spLocks noGrp="1"/>
          </p:cNvSpPr>
          <p:nvPr>
            <p:ph type="title" idx="5"/>
          </p:nvPr>
        </p:nvSpPr>
        <p:spPr>
          <a:xfrm>
            <a:off x="1610200" y="3151775"/>
            <a:ext cx="2369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66" name="Google Shape;66;p13"/>
          <p:cNvSpPr txBox="1">
            <a:spLocks noGrp="1"/>
          </p:cNvSpPr>
          <p:nvPr>
            <p:ph type="title" idx="6" hasCustomPrompt="1"/>
          </p:nvPr>
        </p:nvSpPr>
        <p:spPr>
          <a:xfrm>
            <a:off x="714300" y="3444529"/>
            <a:ext cx="724800" cy="530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2900">
                <a:solidFill>
                  <a:schemeClr val="accent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67" name="Google Shape;67;p13"/>
          <p:cNvSpPr txBox="1">
            <a:spLocks noGrp="1"/>
          </p:cNvSpPr>
          <p:nvPr>
            <p:ph type="subTitle" idx="7"/>
          </p:nvPr>
        </p:nvSpPr>
        <p:spPr>
          <a:xfrm>
            <a:off x="6060000" y="1865025"/>
            <a:ext cx="2369700" cy="53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68" name="Google Shape;68;p13"/>
          <p:cNvSpPr txBox="1">
            <a:spLocks noGrp="1"/>
          </p:cNvSpPr>
          <p:nvPr>
            <p:ph type="title" idx="8"/>
          </p:nvPr>
        </p:nvSpPr>
        <p:spPr>
          <a:xfrm>
            <a:off x="6060000" y="1410125"/>
            <a:ext cx="2369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69" name="Google Shape;69;p13"/>
          <p:cNvSpPr txBox="1">
            <a:spLocks noGrp="1"/>
          </p:cNvSpPr>
          <p:nvPr>
            <p:ph type="title" idx="9" hasCustomPrompt="1"/>
          </p:nvPr>
        </p:nvSpPr>
        <p:spPr>
          <a:xfrm>
            <a:off x="5164100" y="1702879"/>
            <a:ext cx="724800" cy="530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2900">
                <a:solidFill>
                  <a:schemeClr val="accent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
        <p:nvSpPr>
          <p:cNvPr id="70" name="Google Shape;70;p13"/>
          <p:cNvSpPr txBox="1">
            <a:spLocks noGrp="1"/>
          </p:cNvSpPr>
          <p:nvPr>
            <p:ph type="subTitle" idx="13"/>
          </p:nvPr>
        </p:nvSpPr>
        <p:spPr>
          <a:xfrm>
            <a:off x="6060000" y="3606675"/>
            <a:ext cx="2369700" cy="530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71" name="Google Shape;71;p13"/>
          <p:cNvSpPr txBox="1">
            <a:spLocks noGrp="1"/>
          </p:cNvSpPr>
          <p:nvPr>
            <p:ph type="title" idx="14"/>
          </p:nvPr>
        </p:nvSpPr>
        <p:spPr>
          <a:xfrm>
            <a:off x="6060000" y="3151775"/>
            <a:ext cx="2369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72" name="Google Shape;72;p13"/>
          <p:cNvSpPr txBox="1">
            <a:spLocks noGrp="1"/>
          </p:cNvSpPr>
          <p:nvPr>
            <p:ph type="title" idx="15" hasCustomPrompt="1"/>
          </p:nvPr>
        </p:nvSpPr>
        <p:spPr>
          <a:xfrm>
            <a:off x="5164100" y="3444529"/>
            <a:ext cx="724800" cy="530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2900">
                <a:solidFill>
                  <a:schemeClr val="accent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r>
              <a:t>xx%</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p:cSld name="CUSTOM_1">
    <p:spTree>
      <p:nvGrpSpPr>
        <p:cNvPr id="1" name="Shape 77"/>
        <p:cNvGrpSpPr/>
        <p:nvPr/>
      </p:nvGrpSpPr>
      <p:grpSpPr>
        <a:xfrm>
          <a:off x="0" y="0"/>
          <a:ext cx="0" cy="0"/>
          <a:chOff x="0" y="0"/>
          <a:chExt cx="0" cy="0"/>
        </a:xfrm>
      </p:grpSpPr>
      <p:sp>
        <p:nvSpPr>
          <p:cNvPr id="78" name="Google Shape;78;p15"/>
          <p:cNvSpPr txBox="1">
            <a:spLocks noGrp="1"/>
          </p:cNvSpPr>
          <p:nvPr>
            <p:ph type="subTitle" idx="1"/>
          </p:nvPr>
        </p:nvSpPr>
        <p:spPr>
          <a:xfrm>
            <a:off x="714300" y="3328050"/>
            <a:ext cx="2369700" cy="81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79" name="Google Shape;79;p15"/>
          <p:cNvSpPr txBox="1">
            <a:spLocks noGrp="1"/>
          </p:cNvSpPr>
          <p:nvPr>
            <p:ph type="title"/>
          </p:nvPr>
        </p:nvSpPr>
        <p:spPr>
          <a:xfrm>
            <a:off x="714300" y="2854100"/>
            <a:ext cx="2369700" cy="41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80" name="Google Shape;80;p15"/>
          <p:cNvSpPr txBox="1">
            <a:spLocks noGrp="1"/>
          </p:cNvSpPr>
          <p:nvPr>
            <p:ph type="subTitle" idx="2"/>
          </p:nvPr>
        </p:nvSpPr>
        <p:spPr>
          <a:xfrm>
            <a:off x="3387150" y="3328050"/>
            <a:ext cx="2369700" cy="81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81" name="Google Shape;81;p15"/>
          <p:cNvSpPr txBox="1">
            <a:spLocks noGrp="1"/>
          </p:cNvSpPr>
          <p:nvPr>
            <p:ph type="title" idx="3"/>
          </p:nvPr>
        </p:nvSpPr>
        <p:spPr>
          <a:xfrm>
            <a:off x="3387150" y="2854100"/>
            <a:ext cx="2369700" cy="41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82" name="Google Shape;82;p15"/>
          <p:cNvSpPr txBox="1">
            <a:spLocks noGrp="1"/>
          </p:cNvSpPr>
          <p:nvPr>
            <p:ph type="subTitle" idx="4"/>
          </p:nvPr>
        </p:nvSpPr>
        <p:spPr>
          <a:xfrm>
            <a:off x="6060000" y="3328050"/>
            <a:ext cx="2369700" cy="81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83" name="Google Shape;83;p15"/>
          <p:cNvSpPr txBox="1">
            <a:spLocks noGrp="1"/>
          </p:cNvSpPr>
          <p:nvPr>
            <p:ph type="title" idx="5"/>
          </p:nvPr>
        </p:nvSpPr>
        <p:spPr>
          <a:xfrm>
            <a:off x="6060000" y="2854100"/>
            <a:ext cx="2369700" cy="41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84" name="Google Shape;84;p15"/>
          <p:cNvSpPr txBox="1">
            <a:spLocks noGrp="1"/>
          </p:cNvSpPr>
          <p:nvPr>
            <p:ph type="title" idx="6"/>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four columns">
  <p:cSld name="CUSTOM_1_2">
    <p:spTree>
      <p:nvGrpSpPr>
        <p:cNvPr id="1" name="Shape 85"/>
        <p:cNvGrpSpPr/>
        <p:nvPr/>
      </p:nvGrpSpPr>
      <p:grpSpPr>
        <a:xfrm>
          <a:off x="0" y="0"/>
          <a:ext cx="0" cy="0"/>
          <a:chOff x="0" y="0"/>
          <a:chExt cx="0" cy="0"/>
        </a:xfrm>
      </p:grpSpPr>
      <p:sp>
        <p:nvSpPr>
          <p:cNvPr id="86" name="Google Shape;86;p16"/>
          <p:cNvSpPr txBox="1">
            <a:spLocks noGrp="1"/>
          </p:cNvSpPr>
          <p:nvPr>
            <p:ph type="subTitle" idx="1"/>
          </p:nvPr>
        </p:nvSpPr>
        <p:spPr>
          <a:xfrm>
            <a:off x="714300" y="1893275"/>
            <a:ext cx="2369700" cy="815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87" name="Google Shape;87;p16"/>
          <p:cNvSpPr txBox="1">
            <a:spLocks noGrp="1"/>
          </p:cNvSpPr>
          <p:nvPr>
            <p:ph type="title"/>
          </p:nvPr>
        </p:nvSpPr>
        <p:spPr>
          <a:xfrm>
            <a:off x="714300" y="1481675"/>
            <a:ext cx="2369700" cy="4116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88" name="Google Shape;88;p16"/>
          <p:cNvSpPr txBox="1">
            <a:spLocks noGrp="1"/>
          </p:cNvSpPr>
          <p:nvPr>
            <p:ph type="title" idx="2"/>
          </p:nvPr>
        </p:nvSpPr>
        <p:spPr>
          <a:xfrm>
            <a:off x="714300" y="3192675"/>
            <a:ext cx="2369700" cy="4116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89" name="Google Shape;89;p16"/>
          <p:cNvSpPr txBox="1">
            <a:spLocks noGrp="1"/>
          </p:cNvSpPr>
          <p:nvPr>
            <p:ph type="subTitle" idx="3"/>
          </p:nvPr>
        </p:nvSpPr>
        <p:spPr>
          <a:xfrm>
            <a:off x="6060000" y="3604275"/>
            <a:ext cx="2369700" cy="81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90" name="Google Shape;90;p16"/>
          <p:cNvSpPr txBox="1">
            <a:spLocks noGrp="1"/>
          </p:cNvSpPr>
          <p:nvPr>
            <p:ph type="title" idx="4"/>
          </p:nvPr>
        </p:nvSpPr>
        <p:spPr>
          <a:xfrm>
            <a:off x="6060000" y="3192675"/>
            <a:ext cx="2369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91" name="Google Shape;91;p16"/>
          <p:cNvSpPr txBox="1">
            <a:spLocks noGrp="1"/>
          </p:cNvSpPr>
          <p:nvPr>
            <p:ph type="title" idx="5"/>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92" name="Google Shape;92;p16"/>
          <p:cNvSpPr txBox="1">
            <a:spLocks noGrp="1"/>
          </p:cNvSpPr>
          <p:nvPr>
            <p:ph type="subTitle" idx="6"/>
          </p:nvPr>
        </p:nvSpPr>
        <p:spPr>
          <a:xfrm>
            <a:off x="6060000" y="1893275"/>
            <a:ext cx="2369700" cy="81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93" name="Google Shape;93;p16"/>
          <p:cNvSpPr txBox="1">
            <a:spLocks noGrp="1"/>
          </p:cNvSpPr>
          <p:nvPr>
            <p:ph type="title" idx="7"/>
          </p:nvPr>
        </p:nvSpPr>
        <p:spPr>
          <a:xfrm>
            <a:off x="6060000" y="1481675"/>
            <a:ext cx="2369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94" name="Google Shape;94;p16"/>
          <p:cNvSpPr txBox="1">
            <a:spLocks noGrp="1"/>
          </p:cNvSpPr>
          <p:nvPr>
            <p:ph type="subTitle" idx="8"/>
          </p:nvPr>
        </p:nvSpPr>
        <p:spPr>
          <a:xfrm>
            <a:off x="714300" y="3604275"/>
            <a:ext cx="2369700" cy="815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six columns">
  <p:cSld name="CUSTOM_1_1">
    <p:spTree>
      <p:nvGrpSpPr>
        <p:cNvPr id="1" name="Shape 95"/>
        <p:cNvGrpSpPr/>
        <p:nvPr/>
      </p:nvGrpSpPr>
      <p:grpSpPr>
        <a:xfrm>
          <a:off x="0" y="0"/>
          <a:ext cx="0" cy="0"/>
          <a:chOff x="0" y="0"/>
          <a:chExt cx="0" cy="0"/>
        </a:xfrm>
      </p:grpSpPr>
      <p:sp>
        <p:nvSpPr>
          <p:cNvPr id="96" name="Google Shape;96;p17"/>
          <p:cNvSpPr txBox="1">
            <a:spLocks noGrp="1"/>
          </p:cNvSpPr>
          <p:nvPr>
            <p:ph type="subTitle" idx="1"/>
          </p:nvPr>
        </p:nvSpPr>
        <p:spPr>
          <a:xfrm>
            <a:off x="1811088" y="2844875"/>
            <a:ext cx="2255700" cy="55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97" name="Google Shape;97;p17"/>
          <p:cNvSpPr txBox="1">
            <a:spLocks noGrp="1"/>
          </p:cNvSpPr>
          <p:nvPr>
            <p:ph type="title"/>
          </p:nvPr>
        </p:nvSpPr>
        <p:spPr>
          <a:xfrm>
            <a:off x="1811088" y="2447125"/>
            <a:ext cx="2255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98" name="Google Shape;98;p17"/>
          <p:cNvSpPr txBox="1">
            <a:spLocks noGrp="1"/>
          </p:cNvSpPr>
          <p:nvPr>
            <p:ph type="subTitle" idx="2"/>
          </p:nvPr>
        </p:nvSpPr>
        <p:spPr>
          <a:xfrm>
            <a:off x="5994446" y="2844875"/>
            <a:ext cx="2255700" cy="55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99" name="Google Shape;99;p17"/>
          <p:cNvSpPr txBox="1">
            <a:spLocks noGrp="1"/>
          </p:cNvSpPr>
          <p:nvPr>
            <p:ph type="title" idx="3"/>
          </p:nvPr>
        </p:nvSpPr>
        <p:spPr>
          <a:xfrm>
            <a:off x="5994446" y="2447125"/>
            <a:ext cx="2255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100" name="Google Shape;100;p17"/>
          <p:cNvSpPr txBox="1">
            <a:spLocks noGrp="1"/>
          </p:cNvSpPr>
          <p:nvPr>
            <p:ph type="subTitle" idx="4"/>
          </p:nvPr>
        </p:nvSpPr>
        <p:spPr>
          <a:xfrm>
            <a:off x="1811080" y="4050050"/>
            <a:ext cx="2255700" cy="55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101" name="Google Shape;101;p17"/>
          <p:cNvSpPr txBox="1">
            <a:spLocks noGrp="1"/>
          </p:cNvSpPr>
          <p:nvPr>
            <p:ph type="title" idx="5"/>
          </p:nvPr>
        </p:nvSpPr>
        <p:spPr>
          <a:xfrm>
            <a:off x="1811080" y="3652300"/>
            <a:ext cx="2255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102" name="Google Shape;102;p17"/>
          <p:cNvSpPr txBox="1">
            <a:spLocks noGrp="1"/>
          </p:cNvSpPr>
          <p:nvPr>
            <p:ph type="title" idx="6"/>
          </p:nvPr>
        </p:nvSpPr>
        <p:spPr>
          <a:xfrm>
            <a:off x="714300" y="430675"/>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03" name="Google Shape;103;p17"/>
          <p:cNvSpPr txBox="1">
            <a:spLocks noGrp="1"/>
          </p:cNvSpPr>
          <p:nvPr>
            <p:ph type="subTitle" idx="7"/>
          </p:nvPr>
        </p:nvSpPr>
        <p:spPr>
          <a:xfrm>
            <a:off x="1811088" y="1639688"/>
            <a:ext cx="2255700" cy="55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104" name="Google Shape;104;p17"/>
          <p:cNvSpPr txBox="1">
            <a:spLocks noGrp="1"/>
          </p:cNvSpPr>
          <p:nvPr>
            <p:ph type="title" idx="8"/>
          </p:nvPr>
        </p:nvSpPr>
        <p:spPr>
          <a:xfrm>
            <a:off x="1811088" y="1241938"/>
            <a:ext cx="2255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105" name="Google Shape;105;p17"/>
          <p:cNvSpPr txBox="1">
            <a:spLocks noGrp="1"/>
          </p:cNvSpPr>
          <p:nvPr>
            <p:ph type="subTitle" idx="9"/>
          </p:nvPr>
        </p:nvSpPr>
        <p:spPr>
          <a:xfrm>
            <a:off x="5994446" y="1639688"/>
            <a:ext cx="2255700" cy="55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106" name="Google Shape;106;p17"/>
          <p:cNvSpPr txBox="1">
            <a:spLocks noGrp="1"/>
          </p:cNvSpPr>
          <p:nvPr>
            <p:ph type="title" idx="13"/>
          </p:nvPr>
        </p:nvSpPr>
        <p:spPr>
          <a:xfrm>
            <a:off x="5994446" y="1241938"/>
            <a:ext cx="2255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107" name="Google Shape;107;p17"/>
          <p:cNvSpPr txBox="1">
            <a:spLocks noGrp="1"/>
          </p:cNvSpPr>
          <p:nvPr>
            <p:ph type="subTitle" idx="14"/>
          </p:nvPr>
        </p:nvSpPr>
        <p:spPr>
          <a:xfrm>
            <a:off x="5994430" y="4050038"/>
            <a:ext cx="2255700" cy="55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sz="1200"/>
            </a:lvl2pPr>
            <a:lvl3pPr lvl="2" algn="ctr" rtl="0">
              <a:lnSpc>
                <a:spcPct val="100000"/>
              </a:lnSpc>
              <a:spcBef>
                <a:spcPts val="0"/>
              </a:spcBef>
              <a:spcAft>
                <a:spcPts val="0"/>
              </a:spcAft>
              <a:buSzPts val="1200"/>
              <a:buNone/>
              <a:defRPr sz="1200"/>
            </a:lvl3pPr>
            <a:lvl4pPr lvl="3" algn="ctr" rtl="0">
              <a:lnSpc>
                <a:spcPct val="100000"/>
              </a:lnSpc>
              <a:spcBef>
                <a:spcPts val="0"/>
              </a:spcBef>
              <a:spcAft>
                <a:spcPts val="0"/>
              </a:spcAft>
              <a:buSzPts val="1200"/>
              <a:buNone/>
              <a:defRPr sz="1200"/>
            </a:lvl4pPr>
            <a:lvl5pPr lvl="4" algn="ctr" rtl="0">
              <a:lnSpc>
                <a:spcPct val="100000"/>
              </a:lnSpc>
              <a:spcBef>
                <a:spcPts val="0"/>
              </a:spcBef>
              <a:spcAft>
                <a:spcPts val="0"/>
              </a:spcAft>
              <a:buSzPts val="1200"/>
              <a:buNone/>
              <a:defRPr sz="1200"/>
            </a:lvl5pPr>
            <a:lvl6pPr lvl="5" algn="ctr" rtl="0">
              <a:lnSpc>
                <a:spcPct val="100000"/>
              </a:lnSpc>
              <a:spcBef>
                <a:spcPts val="0"/>
              </a:spcBef>
              <a:spcAft>
                <a:spcPts val="0"/>
              </a:spcAft>
              <a:buSzPts val="1200"/>
              <a:buNone/>
              <a:defRPr sz="1200"/>
            </a:lvl6pPr>
            <a:lvl7pPr lvl="6" algn="ctr" rtl="0">
              <a:lnSpc>
                <a:spcPct val="100000"/>
              </a:lnSpc>
              <a:spcBef>
                <a:spcPts val="0"/>
              </a:spcBef>
              <a:spcAft>
                <a:spcPts val="0"/>
              </a:spcAft>
              <a:buSzPts val="1200"/>
              <a:buNone/>
              <a:defRPr sz="1200"/>
            </a:lvl7pPr>
            <a:lvl8pPr lvl="7" algn="ctr" rtl="0">
              <a:lnSpc>
                <a:spcPct val="100000"/>
              </a:lnSpc>
              <a:spcBef>
                <a:spcPts val="0"/>
              </a:spcBef>
              <a:spcAft>
                <a:spcPts val="0"/>
              </a:spcAft>
              <a:buSzPts val="1200"/>
              <a:buNone/>
              <a:defRPr sz="1200"/>
            </a:lvl8pPr>
            <a:lvl9pPr lvl="8" algn="ctr" rtl="0">
              <a:lnSpc>
                <a:spcPct val="100000"/>
              </a:lnSpc>
              <a:spcBef>
                <a:spcPts val="0"/>
              </a:spcBef>
              <a:spcAft>
                <a:spcPts val="0"/>
              </a:spcAft>
              <a:buSzPts val="1200"/>
              <a:buNone/>
              <a:defRPr sz="1200"/>
            </a:lvl9pPr>
          </a:lstStyle>
          <a:p>
            <a:endParaRPr/>
          </a:p>
        </p:txBody>
      </p:sp>
      <p:sp>
        <p:nvSpPr>
          <p:cNvPr id="108" name="Google Shape;108;p17"/>
          <p:cNvSpPr txBox="1">
            <a:spLocks noGrp="1"/>
          </p:cNvSpPr>
          <p:nvPr>
            <p:ph type="title" idx="15"/>
          </p:nvPr>
        </p:nvSpPr>
        <p:spPr>
          <a:xfrm>
            <a:off x="5994430" y="3652288"/>
            <a:ext cx="2255700" cy="4116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8_1">
    <p:spTree>
      <p:nvGrpSpPr>
        <p:cNvPr id="1" name="Shape 144"/>
        <p:cNvGrpSpPr/>
        <p:nvPr/>
      </p:nvGrpSpPr>
      <p:grpSpPr>
        <a:xfrm>
          <a:off x="0" y="0"/>
          <a:ext cx="0" cy="0"/>
          <a:chOff x="0" y="0"/>
          <a:chExt cx="0" cy="0"/>
        </a:xfrm>
      </p:grpSpPr>
      <p:sp>
        <p:nvSpPr>
          <p:cNvPr id="145" name="Google Shape;145;p24"/>
          <p:cNvSpPr/>
          <p:nvPr/>
        </p:nvSpPr>
        <p:spPr>
          <a:xfrm>
            <a:off x="1546575" y="143725"/>
            <a:ext cx="1576800" cy="471300"/>
          </a:xfrm>
          <a:prstGeom prst="roundRect">
            <a:avLst>
              <a:gd name="adj" fmla="val 38531"/>
            </a:avLst>
          </a:prstGeom>
          <a:solidFill>
            <a:schemeClr val="l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1"/>
                </a:solidFill>
                <a:latin typeface="Viga"/>
                <a:ea typeface="Viga"/>
                <a:cs typeface="Viga"/>
                <a:sym typeface="Viga"/>
              </a:rPr>
              <a:t>Western blot</a:t>
            </a:r>
            <a:endParaRPr>
              <a:solidFill>
                <a:schemeClr val="accent1"/>
              </a:solidFill>
              <a:latin typeface="Viga"/>
              <a:ea typeface="Viga"/>
              <a:cs typeface="Viga"/>
              <a:sym typeface="Viga"/>
            </a:endParaRPr>
          </a:p>
        </p:txBody>
      </p:sp>
      <p:sp>
        <p:nvSpPr>
          <p:cNvPr id="146" name="Google Shape;146;p24"/>
          <p:cNvSpPr/>
          <p:nvPr/>
        </p:nvSpPr>
        <p:spPr>
          <a:xfrm>
            <a:off x="8342688" y="4358963"/>
            <a:ext cx="657600" cy="657600"/>
          </a:xfrm>
          <a:prstGeom prst="roundRect">
            <a:avLst>
              <a:gd name="adj" fmla="val 16667"/>
            </a:avLst>
          </a:prstGeom>
          <a:solidFill>
            <a:schemeClr val="l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47" name="Google Shape;147;p24"/>
          <p:cNvSpPr/>
          <p:nvPr/>
        </p:nvSpPr>
        <p:spPr>
          <a:xfrm rot="5400000" flipH="1">
            <a:off x="7357275" y="4150776"/>
            <a:ext cx="424500" cy="1307100"/>
          </a:xfrm>
          <a:prstGeom prst="round2SameRect">
            <a:avLst>
              <a:gd name="adj1" fmla="val 50000"/>
              <a:gd name="adj2" fmla="val 13354"/>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grpSp>
        <p:nvGrpSpPr>
          <p:cNvPr id="148" name="Google Shape;148;p24"/>
          <p:cNvGrpSpPr/>
          <p:nvPr/>
        </p:nvGrpSpPr>
        <p:grpSpPr>
          <a:xfrm>
            <a:off x="143710" y="143714"/>
            <a:ext cx="1348992" cy="1348317"/>
            <a:chOff x="-1651926" y="2946675"/>
            <a:chExt cx="1604224" cy="1603421"/>
          </a:xfrm>
        </p:grpSpPr>
        <p:sp>
          <p:nvSpPr>
            <p:cNvPr id="149" name="Google Shape;149;p24"/>
            <p:cNvSpPr/>
            <p:nvPr/>
          </p:nvSpPr>
          <p:spPr>
            <a:xfrm>
              <a:off x="-1651926" y="2946675"/>
              <a:ext cx="1604224" cy="1603421"/>
            </a:xfrm>
            <a:custGeom>
              <a:avLst/>
              <a:gdLst/>
              <a:ahLst/>
              <a:cxnLst/>
              <a:rect l="l" t="t" r="r" b="b"/>
              <a:pathLst>
                <a:path w="103951" h="103899" extrusionOk="0">
                  <a:moveTo>
                    <a:pt x="53962" y="1"/>
                  </a:moveTo>
                  <a:cubicBezTo>
                    <a:pt x="33739" y="1"/>
                    <a:pt x="15477" y="12176"/>
                    <a:pt x="7739" y="30850"/>
                  </a:cubicBezTo>
                  <a:cubicBezTo>
                    <a:pt x="1" y="49525"/>
                    <a:pt x="4283" y="71037"/>
                    <a:pt x="18572" y="85327"/>
                  </a:cubicBezTo>
                  <a:cubicBezTo>
                    <a:pt x="32862" y="99669"/>
                    <a:pt x="54374" y="103899"/>
                    <a:pt x="73101" y="96161"/>
                  </a:cubicBezTo>
                  <a:cubicBezTo>
                    <a:pt x="91775" y="88422"/>
                    <a:pt x="103950" y="70212"/>
                    <a:pt x="103950" y="49989"/>
                  </a:cubicBezTo>
                  <a:cubicBezTo>
                    <a:pt x="103950" y="22390"/>
                    <a:pt x="81561" y="1"/>
                    <a:pt x="53962" y="1"/>
                  </a:cubicBezTo>
                  <a:close/>
                  <a:moveTo>
                    <a:pt x="53962" y="76145"/>
                  </a:moveTo>
                  <a:cubicBezTo>
                    <a:pt x="43386" y="76145"/>
                    <a:pt x="33842" y="69748"/>
                    <a:pt x="29767" y="59998"/>
                  </a:cubicBezTo>
                  <a:cubicBezTo>
                    <a:pt x="25743" y="50196"/>
                    <a:pt x="27961" y="39001"/>
                    <a:pt x="35442" y="31521"/>
                  </a:cubicBezTo>
                  <a:cubicBezTo>
                    <a:pt x="42922" y="24041"/>
                    <a:pt x="54168" y="21771"/>
                    <a:pt x="63918" y="25846"/>
                  </a:cubicBezTo>
                  <a:cubicBezTo>
                    <a:pt x="73720" y="29870"/>
                    <a:pt x="80065" y="39414"/>
                    <a:pt x="80065" y="49989"/>
                  </a:cubicBezTo>
                  <a:cubicBezTo>
                    <a:pt x="80065" y="64434"/>
                    <a:pt x="68355" y="76145"/>
                    <a:pt x="53962" y="76145"/>
                  </a:cubicBezTo>
                  <a:close/>
                </a:path>
              </a:pathLst>
            </a:cu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50" name="Google Shape;150;p24"/>
            <p:cNvSpPr/>
            <p:nvPr/>
          </p:nvSpPr>
          <p:spPr>
            <a:xfrm>
              <a:off x="-655172" y="3068483"/>
              <a:ext cx="132179" cy="137750"/>
            </a:xfrm>
            <a:custGeom>
              <a:avLst/>
              <a:gdLst/>
              <a:ahLst/>
              <a:cxnLst/>
              <a:rect l="l" t="t" r="r" b="b"/>
              <a:pathLst>
                <a:path w="8565" h="8926" extrusionOk="0">
                  <a:moveTo>
                    <a:pt x="4386" y="2116"/>
                  </a:moveTo>
                  <a:lnTo>
                    <a:pt x="5882" y="2735"/>
                  </a:lnTo>
                  <a:cubicBezTo>
                    <a:pt x="6707" y="3044"/>
                    <a:pt x="6913" y="3663"/>
                    <a:pt x="6552" y="4540"/>
                  </a:cubicBezTo>
                  <a:cubicBezTo>
                    <a:pt x="6346" y="5056"/>
                    <a:pt x="6088" y="5366"/>
                    <a:pt x="5778" y="5469"/>
                  </a:cubicBezTo>
                  <a:cubicBezTo>
                    <a:pt x="5670" y="5534"/>
                    <a:pt x="5544" y="5563"/>
                    <a:pt x="5408" y="5563"/>
                  </a:cubicBezTo>
                  <a:cubicBezTo>
                    <a:pt x="5218" y="5563"/>
                    <a:pt x="5008" y="5507"/>
                    <a:pt x="4798" y="5417"/>
                  </a:cubicBezTo>
                  <a:lnTo>
                    <a:pt x="3302" y="4798"/>
                  </a:lnTo>
                  <a:lnTo>
                    <a:pt x="4386" y="2116"/>
                  </a:lnTo>
                  <a:close/>
                  <a:moveTo>
                    <a:pt x="3354" y="1"/>
                  </a:moveTo>
                  <a:lnTo>
                    <a:pt x="1" y="8255"/>
                  </a:lnTo>
                  <a:lnTo>
                    <a:pt x="1600" y="8925"/>
                  </a:lnTo>
                  <a:lnTo>
                    <a:pt x="2683" y="6243"/>
                  </a:lnTo>
                  <a:lnTo>
                    <a:pt x="4282" y="6914"/>
                  </a:lnTo>
                  <a:cubicBezTo>
                    <a:pt x="4771" y="7115"/>
                    <a:pt x="5212" y="7220"/>
                    <a:pt x="5623" y="7220"/>
                  </a:cubicBezTo>
                  <a:cubicBezTo>
                    <a:pt x="5949" y="7220"/>
                    <a:pt x="6255" y="7154"/>
                    <a:pt x="6552" y="7017"/>
                  </a:cubicBezTo>
                  <a:cubicBezTo>
                    <a:pt x="7223" y="6759"/>
                    <a:pt x="7790" y="6140"/>
                    <a:pt x="8151" y="5211"/>
                  </a:cubicBezTo>
                  <a:cubicBezTo>
                    <a:pt x="8513" y="4283"/>
                    <a:pt x="8564" y="3509"/>
                    <a:pt x="8255" y="2838"/>
                  </a:cubicBezTo>
                  <a:cubicBezTo>
                    <a:pt x="7997" y="2167"/>
                    <a:pt x="7429" y="1652"/>
                    <a:pt x="6552" y="1290"/>
                  </a:cubicBezTo>
                  <a:lnTo>
                    <a:pt x="335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51" name="Google Shape;151;p24"/>
            <p:cNvSpPr/>
            <p:nvPr/>
          </p:nvSpPr>
          <p:spPr>
            <a:xfrm>
              <a:off x="-554861" y="3146510"/>
              <a:ext cx="110682" cy="106700"/>
            </a:xfrm>
            <a:custGeom>
              <a:avLst/>
              <a:gdLst/>
              <a:ahLst/>
              <a:cxnLst/>
              <a:rect l="l" t="t" r="r" b="b"/>
              <a:pathLst>
                <a:path w="7172" h="6914" extrusionOk="0">
                  <a:moveTo>
                    <a:pt x="3767" y="0"/>
                  </a:moveTo>
                  <a:lnTo>
                    <a:pt x="1" y="6088"/>
                  </a:lnTo>
                  <a:lnTo>
                    <a:pt x="1394" y="6913"/>
                  </a:lnTo>
                  <a:lnTo>
                    <a:pt x="4076" y="2631"/>
                  </a:lnTo>
                  <a:cubicBezTo>
                    <a:pt x="4747" y="2683"/>
                    <a:pt x="5314" y="2786"/>
                    <a:pt x="5624" y="2992"/>
                  </a:cubicBezTo>
                  <a:cubicBezTo>
                    <a:pt x="5778" y="3096"/>
                    <a:pt x="5882" y="3199"/>
                    <a:pt x="5985" y="3302"/>
                  </a:cubicBezTo>
                  <a:lnTo>
                    <a:pt x="7171" y="2167"/>
                  </a:lnTo>
                  <a:cubicBezTo>
                    <a:pt x="7120" y="2012"/>
                    <a:pt x="7068" y="1909"/>
                    <a:pt x="6913" y="1858"/>
                  </a:cubicBezTo>
                  <a:cubicBezTo>
                    <a:pt x="6810" y="1754"/>
                    <a:pt x="6707" y="1703"/>
                    <a:pt x="6655" y="1703"/>
                  </a:cubicBezTo>
                  <a:lnTo>
                    <a:pt x="4798" y="1393"/>
                  </a:lnTo>
                  <a:lnTo>
                    <a:pt x="4798" y="671"/>
                  </a:lnTo>
                  <a:lnTo>
                    <a:pt x="37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52" name="Google Shape;152;p24"/>
            <p:cNvSpPr/>
            <p:nvPr/>
          </p:nvSpPr>
          <p:spPr>
            <a:xfrm>
              <a:off x="-484797" y="3206650"/>
              <a:ext cx="113058" cy="114231"/>
            </a:xfrm>
            <a:custGeom>
              <a:avLst/>
              <a:gdLst/>
              <a:ahLst/>
              <a:cxnLst/>
              <a:rect l="l" t="t" r="r" b="b"/>
              <a:pathLst>
                <a:path w="7326" h="7402" extrusionOk="0">
                  <a:moveTo>
                    <a:pt x="4321" y="1631"/>
                  </a:moveTo>
                  <a:cubicBezTo>
                    <a:pt x="4604" y="1631"/>
                    <a:pt x="4882" y="1747"/>
                    <a:pt x="5159" y="1984"/>
                  </a:cubicBezTo>
                  <a:cubicBezTo>
                    <a:pt x="5572" y="2346"/>
                    <a:pt x="5778" y="2707"/>
                    <a:pt x="5675" y="3068"/>
                  </a:cubicBezTo>
                  <a:cubicBezTo>
                    <a:pt x="5623" y="3429"/>
                    <a:pt x="5365" y="3842"/>
                    <a:pt x="4953" y="4306"/>
                  </a:cubicBezTo>
                  <a:lnTo>
                    <a:pt x="4540" y="4822"/>
                  </a:lnTo>
                  <a:cubicBezTo>
                    <a:pt x="4231" y="5183"/>
                    <a:pt x="3869" y="5492"/>
                    <a:pt x="3560" y="5647"/>
                  </a:cubicBezTo>
                  <a:cubicBezTo>
                    <a:pt x="3401" y="5718"/>
                    <a:pt x="3247" y="5752"/>
                    <a:pt x="3096" y="5752"/>
                  </a:cubicBezTo>
                  <a:cubicBezTo>
                    <a:pt x="2806" y="5752"/>
                    <a:pt x="2524" y="5626"/>
                    <a:pt x="2219" y="5389"/>
                  </a:cubicBezTo>
                  <a:cubicBezTo>
                    <a:pt x="1548" y="4770"/>
                    <a:pt x="1600" y="3996"/>
                    <a:pt x="2477" y="2965"/>
                  </a:cubicBezTo>
                  <a:lnTo>
                    <a:pt x="2889" y="2500"/>
                  </a:lnTo>
                  <a:cubicBezTo>
                    <a:pt x="3398" y="1928"/>
                    <a:pt x="3867" y="1631"/>
                    <a:pt x="4321" y="1631"/>
                  </a:cubicBezTo>
                  <a:close/>
                  <a:moveTo>
                    <a:pt x="4176" y="1"/>
                  </a:moveTo>
                  <a:cubicBezTo>
                    <a:pt x="3985" y="1"/>
                    <a:pt x="3797" y="26"/>
                    <a:pt x="3612" y="76"/>
                  </a:cubicBezTo>
                  <a:cubicBezTo>
                    <a:pt x="2889" y="334"/>
                    <a:pt x="2167" y="849"/>
                    <a:pt x="1445" y="1675"/>
                  </a:cubicBezTo>
                  <a:cubicBezTo>
                    <a:pt x="671" y="2552"/>
                    <a:pt x="258" y="3377"/>
                    <a:pt x="104" y="4099"/>
                  </a:cubicBezTo>
                  <a:cubicBezTo>
                    <a:pt x="0" y="4925"/>
                    <a:pt x="361" y="5699"/>
                    <a:pt x="1290" y="6473"/>
                  </a:cubicBezTo>
                  <a:cubicBezTo>
                    <a:pt x="1961" y="7092"/>
                    <a:pt x="2683" y="7401"/>
                    <a:pt x="3354" y="7401"/>
                  </a:cubicBezTo>
                  <a:cubicBezTo>
                    <a:pt x="4127" y="7350"/>
                    <a:pt x="5004" y="6782"/>
                    <a:pt x="6036" y="5596"/>
                  </a:cubicBezTo>
                  <a:cubicBezTo>
                    <a:pt x="6810" y="4667"/>
                    <a:pt x="7223" y="3842"/>
                    <a:pt x="7274" y="3119"/>
                  </a:cubicBezTo>
                  <a:cubicBezTo>
                    <a:pt x="7326" y="2346"/>
                    <a:pt x="6965" y="1572"/>
                    <a:pt x="6088" y="849"/>
                  </a:cubicBezTo>
                  <a:cubicBezTo>
                    <a:pt x="5421" y="261"/>
                    <a:pt x="4783" y="1"/>
                    <a:pt x="41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53" name="Google Shape;153;p24"/>
            <p:cNvSpPr/>
            <p:nvPr/>
          </p:nvSpPr>
          <p:spPr>
            <a:xfrm>
              <a:off x="-407573" y="3265927"/>
              <a:ext cx="103506" cy="117040"/>
            </a:xfrm>
            <a:custGeom>
              <a:avLst/>
              <a:gdLst/>
              <a:ahLst/>
              <a:cxnLst/>
              <a:rect l="l" t="t" r="r" b="b"/>
              <a:pathLst>
                <a:path w="6707" h="7584" extrusionOk="0">
                  <a:moveTo>
                    <a:pt x="5623" y="1"/>
                  </a:moveTo>
                  <a:lnTo>
                    <a:pt x="4592" y="929"/>
                  </a:lnTo>
                  <a:lnTo>
                    <a:pt x="4127" y="413"/>
                  </a:lnTo>
                  <a:lnTo>
                    <a:pt x="3199" y="1239"/>
                  </a:lnTo>
                  <a:lnTo>
                    <a:pt x="3612" y="1755"/>
                  </a:lnTo>
                  <a:lnTo>
                    <a:pt x="774" y="4179"/>
                  </a:lnTo>
                  <a:cubicBezTo>
                    <a:pt x="413" y="4489"/>
                    <a:pt x="155" y="4901"/>
                    <a:pt x="104" y="5366"/>
                  </a:cubicBezTo>
                  <a:cubicBezTo>
                    <a:pt x="0" y="5882"/>
                    <a:pt x="207" y="6346"/>
                    <a:pt x="568" y="6810"/>
                  </a:cubicBezTo>
                  <a:lnTo>
                    <a:pt x="1238" y="7584"/>
                  </a:lnTo>
                  <a:lnTo>
                    <a:pt x="2270" y="6707"/>
                  </a:lnTo>
                  <a:lnTo>
                    <a:pt x="1858" y="6140"/>
                  </a:lnTo>
                  <a:cubicBezTo>
                    <a:pt x="1600" y="5882"/>
                    <a:pt x="1600" y="5624"/>
                    <a:pt x="1909" y="5366"/>
                  </a:cubicBezTo>
                  <a:lnTo>
                    <a:pt x="4695" y="2993"/>
                  </a:lnTo>
                  <a:lnTo>
                    <a:pt x="5417" y="3870"/>
                  </a:lnTo>
                  <a:lnTo>
                    <a:pt x="6397" y="3044"/>
                  </a:lnTo>
                  <a:lnTo>
                    <a:pt x="5623" y="2167"/>
                  </a:lnTo>
                  <a:lnTo>
                    <a:pt x="6707" y="1239"/>
                  </a:lnTo>
                  <a:lnTo>
                    <a:pt x="562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54" name="Google Shape;154;p24"/>
            <p:cNvSpPr/>
            <p:nvPr/>
          </p:nvSpPr>
          <p:spPr>
            <a:xfrm>
              <a:off x="-369362" y="3346453"/>
              <a:ext cx="122627" cy="107163"/>
            </a:xfrm>
            <a:custGeom>
              <a:avLst/>
              <a:gdLst/>
              <a:ahLst/>
              <a:cxnLst/>
              <a:rect l="l" t="t" r="r" b="b"/>
              <a:pathLst>
                <a:path w="7946" h="6944" extrusionOk="0">
                  <a:moveTo>
                    <a:pt x="4768" y="1579"/>
                  </a:moveTo>
                  <a:cubicBezTo>
                    <a:pt x="4831" y="1579"/>
                    <a:pt x="4893" y="1584"/>
                    <a:pt x="4953" y="1592"/>
                  </a:cubicBezTo>
                  <a:cubicBezTo>
                    <a:pt x="5314" y="1695"/>
                    <a:pt x="5624" y="1902"/>
                    <a:pt x="5830" y="2263"/>
                  </a:cubicBezTo>
                  <a:cubicBezTo>
                    <a:pt x="6036" y="2624"/>
                    <a:pt x="6140" y="2985"/>
                    <a:pt x="6036" y="3295"/>
                  </a:cubicBezTo>
                  <a:cubicBezTo>
                    <a:pt x="5933" y="3604"/>
                    <a:pt x="5624" y="3914"/>
                    <a:pt x="5159" y="4172"/>
                  </a:cubicBezTo>
                  <a:lnTo>
                    <a:pt x="3766" y="1902"/>
                  </a:lnTo>
                  <a:cubicBezTo>
                    <a:pt x="4110" y="1687"/>
                    <a:pt x="4454" y="1579"/>
                    <a:pt x="4768" y="1579"/>
                  </a:cubicBezTo>
                  <a:close/>
                  <a:moveTo>
                    <a:pt x="4629" y="1"/>
                  </a:moveTo>
                  <a:cubicBezTo>
                    <a:pt x="3997" y="1"/>
                    <a:pt x="3271" y="265"/>
                    <a:pt x="2477" y="767"/>
                  </a:cubicBezTo>
                  <a:cubicBezTo>
                    <a:pt x="774" y="1850"/>
                    <a:pt x="1" y="2830"/>
                    <a:pt x="104" y="3862"/>
                  </a:cubicBezTo>
                  <a:cubicBezTo>
                    <a:pt x="104" y="4326"/>
                    <a:pt x="362" y="4894"/>
                    <a:pt x="774" y="5564"/>
                  </a:cubicBezTo>
                  <a:cubicBezTo>
                    <a:pt x="1187" y="6235"/>
                    <a:pt x="1703" y="6699"/>
                    <a:pt x="2322" y="6854"/>
                  </a:cubicBezTo>
                  <a:cubicBezTo>
                    <a:pt x="2503" y="6914"/>
                    <a:pt x="2688" y="6944"/>
                    <a:pt x="2877" y="6944"/>
                  </a:cubicBezTo>
                  <a:cubicBezTo>
                    <a:pt x="3337" y="6944"/>
                    <a:pt x="3822" y="6770"/>
                    <a:pt x="4334" y="6441"/>
                  </a:cubicBezTo>
                  <a:lnTo>
                    <a:pt x="3560" y="5203"/>
                  </a:lnTo>
                  <a:cubicBezTo>
                    <a:pt x="3405" y="5306"/>
                    <a:pt x="3147" y="5358"/>
                    <a:pt x="2786" y="5358"/>
                  </a:cubicBezTo>
                  <a:cubicBezTo>
                    <a:pt x="2477" y="5306"/>
                    <a:pt x="2219" y="5100"/>
                    <a:pt x="2013" y="4791"/>
                  </a:cubicBezTo>
                  <a:cubicBezTo>
                    <a:pt x="1703" y="4275"/>
                    <a:pt x="1600" y="3810"/>
                    <a:pt x="1755" y="3501"/>
                  </a:cubicBezTo>
                  <a:cubicBezTo>
                    <a:pt x="1858" y="3140"/>
                    <a:pt x="2219" y="2830"/>
                    <a:pt x="2786" y="2469"/>
                  </a:cubicBezTo>
                  <a:lnTo>
                    <a:pt x="5005" y="6029"/>
                  </a:lnTo>
                  <a:cubicBezTo>
                    <a:pt x="5417" y="5771"/>
                    <a:pt x="5675" y="5616"/>
                    <a:pt x="5882" y="5461"/>
                  </a:cubicBezTo>
                  <a:cubicBezTo>
                    <a:pt x="7584" y="4429"/>
                    <a:pt x="7945" y="3088"/>
                    <a:pt x="6965" y="1592"/>
                  </a:cubicBezTo>
                  <a:cubicBezTo>
                    <a:pt x="6449" y="715"/>
                    <a:pt x="5778" y="199"/>
                    <a:pt x="5056" y="45"/>
                  </a:cubicBezTo>
                  <a:cubicBezTo>
                    <a:pt x="4919" y="15"/>
                    <a:pt x="4777" y="1"/>
                    <a:pt x="46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55" name="Google Shape;155;p24"/>
            <p:cNvSpPr/>
            <p:nvPr/>
          </p:nvSpPr>
          <p:spPr>
            <a:xfrm>
              <a:off x="-327170" y="3421671"/>
              <a:ext cx="147303" cy="83907"/>
            </a:xfrm>
            <a:custGeom>
              <a:avLst/>
              <a:gdLst/>
              <a:ahLst/>
              <a:cxnLst/>
              <a:rect l="l" t="t" r="r" b="b"/>
              <a:pathLst>
                <a:path w="9545" h="5437" extrusionOk="0">
                  <a:moveTo>
                    <a:pt x="8688" y="0"/>
                  </a:moveTo>
                  <a:cubicBezTo>
                    <a:pt x="8535" y="0"/>
                    <a:pt x="8332" y="58"/>
                    <a:pt x="8100" y="175"/>
                  </a:cubicBezTo>
                  <a:cubicBezTo>
                    <a:pt x="7739" y="329"/>
                    <a:pt x="7533" y="484"/>
                    <a:pt x="7481" y="639"/>
                  </a:cubicBezTo>
                  <a:cubicBezTo>
                    <a:pt x="7378" y="794"/>
                    <a:pt x="7429" y="1052"/>
                    <a:pt x="7584" y="1413"/>
                  </a:cubicBezTo>
                  <a:cubicBezTo>
                    <a:pt x="7739" y="1774"/>
                    <a:pt x="7894" y="1980"/>
                    <a:pt x="8048" y="2032"/>
                  </a:cubicBezTo>
                  <a:cubicBezTo>
                    <a:pt x="8100" y="2045"/>
                    <a:pt x="8155" y="2051"/>
                    <a:pt x="8213" y="2051"/>
                  </a:cubicBezTo>
                  <a:cubicBezTo>
                    <a:pt x="8387" y="2051"/>
                    <a:pt x="8590" y="1993"/>
                    <a:pt x="8822" y="1877"/>
                  </a:cubicBezTo>
                  <a:cubicBezTo>
                    <a:pt x="9183" y="1722"/>
                    <a:pt x="9390" y="1567"/>
                    <a:pt x="9441" y="1413"/>
                  </a:cubicBezTo>
                  <a:cubicBezTo>
                    <a:pt x="9544" y="1258"/>
                    <a:pt x="9493" y="1000"/>
                    <a:pt x="9338" y="639"/>
                  </a:cubicBezTo>
                  <a:cubicBezTo>
                    <a:pt x="9183" y="278"/>
                    <a:pt x="8977" y="71"/>
                    <a:pt x="8822" y="20"/>
                  </a:cubicBezTo>
                  <a:cubicBezTo>
                    <a:pt x="8784" y="7"/>
                    <a:pt x="8738" y="0"/>
                    <a:pt x="8688" y="0"/>
                  </a:cubicBezTo>
                  <a:close/>
                  <a:moveTo>
                    <a:pt x="6243" y="1103"/>
                  </a:moveTo>
                  <a:lnTo>
                    <a:pt x="1" y="3940"/>
                  </a:lnTo>
                  <a:lnTo>
                    <a:pt x="671" y="5437"/>
                  </a:lnTo>
                  <a:lnTo>
                    <a:pt x="6913" y="2599"/>
                  </a:lnTo>
                  <a:lnTo>
                    <a:pt x="6243" y="1103"/>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56" name="Google Shape;156;p24"/>
            <p:cNvSpPr/>
            <p:nvPr/>
          </p:nvSpPr>
          <p:spPr>
            <a:xfrm>
              <a:off x="-307262" y="3494420"/>
              <a:ext cx="125003" cy="114648"/>
            </a:xfrm>
            <a:custGeom>
              <a:avLst/>
              <a:gdLst/>
              <a:ahLst/>
              <a:cxnLst/>
              <a:rect l="l" t="t" r="r" b="b"/>
              <a:pathLst>
                <a:path w="8100" h="7429" extrusionOk="0">
                  <a:moveTo>
                    <a:pt x="6862" y="0"/>
                  </a:moveTo>
                  <a:lnTo>
                    <a:pt x="0" y="1961"/>
                  </a:lnTo>
                  <a:lnTo>
                    <a:pt x="465" y="3560"/>
                  </a:lnTo>
                  <a:lnTo>
                    <a:pt x="5262" y="2167"/>
                  </a:lnTo>
                  <a:lnTo>
                    <a:pt x="6243" y="3405"/>
                  </a:lnTo>
                  <a:cubicBezTo>
                    <a:pt x="6346" y="3663"/>
                    <a:pt x="6346" y="3921"/>
                    <a:pt x="6243" y="4127"/>
                  </a:cubicBezTo>
                  <a:cubicBezTo>
                    <a:pt x="6139" y="4334"/>
                    <a:pt x="5881" y="4488"/>
                    <a:pt x="5520" y="4592"/>
                  </a:cubicBezTo>
                  <a:lnTo>
                    <a:pt x="1135" y="5881"/>
                  </a:lnTo>
                  <a:lnTo>
                    <a:pt x="1548" y="7429"/>
                  </a:lnTo>
                  <a:lnTo>
                    <a:pt x="6191" y="6088"/>
                  </a:lnTo>
                  <a:cubicBezTo>
                    <a:pt x="6913" y="5881"/>
                    <a:pt x="7481" y="5520"/>
                    <a:pt x="7739" y="5004"/>
                  </a:cubicBezTo>
                  <a:cubicBezTo>
                    <a:pt x="7997" y="4488"/>
                    <a:pt x="8100" y="3973"/>
                    <a:pt x="7945" y="3405"/>
                  </a:cubicBezTo>
                  <a:lnTo>
                    <a:pt x="6500" y="1754"/>
                  </a:lnTo>
                  <a:lnTo>
                    <a:pt x="7223" y="1135"/>
                  </a:lnTo>
                  <a:lnTo>
                    <a:pt x="686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57" name="Google Shape;157;p24"/>
            <p:cNvSpPr/>
            <p:nvPr/>
          </p:nvSpPr>
          <p:spPr>
            <a:xfrm>
              <a:off x="-280193" y="3613713"/>
              <a:ext cx="117040" cy="86916"/>
            </a:xfrm>
            <a:custGeom>
              <a:avLst/>
              <a:gdLst/>
              <a:ahLst/>
              <a:cxnLst/>
              <a:rect l="l" t="t" r="r" b="b"/>
              <a:pathLst>
                <a:path w="7584" h="5632" extrusionOk="0">
                  <a:moveTo>
                    <a:pt x="5255" y="1"/>
                  </a:moveTo>
                  <a:cubicBezTo>
                    <a:pt x="5190" y="1"/>
                    <a:pt x="5124" y="3"/>
                    <a:pt x="5056" y="8"/>
                  </a:cubicBezTo>
                  <a:cubicBezTo>
                    <a:pt x="3869" y="163"/>
                    <a:pt x="3250" y="782"/>
                    <a:pt x="3147" y="1866"/>
                  </a:cubicBezTo>
                  <a:lnTo>
                    <a:pt x="3096" y="3155"/>
                  </a:lnTo>
                  <a:cubicBezTo>
                    <a:pt x="3096" y="3310"/>
                    <a:pt x="3044" y="3465"/>
                    <a:pt x="2992" y="3568"/>
                  </a:cubicBezTo>
                  <a:cubicBezTo>
                    <a:pt x="2889" y="3826"/>
                    <a:pt x="2631" y="3981"/>
                    <a:pt x="2219" y="4032"/>
                  </a:cubicBezTo>
                  <a:cubicBezTo>
                    <a:pt x="2186" y="4036"/>
                    <a:pt x="2153" y="4038"/>
                    <a:pt x="2122" y="4038"/>
                  </a:cubicBezTo>
                  <a:cubicBezTo>
                    <a:pt x="1711" y="4038"/>
                    <a:pt x="1441" y="3726"/>
                    <a:pt x="1393" y="3104"/>
                  </a:cubicBezTo>
                  <a:cubicBezTo>
                    <a:pt x="1342" y="2588"/>
                    <a:pt x="1393" y="2227"/>
                    <a:pt x="1496" y="2020"/>
                  </a:cubicBezTo>
                  <a:cubicBezTo>
                    <a:pt x="1600" y="1814"/>
                    <a:pt x="1858" y="1711"/>
                    <a:pt x="2270" y="1659"/>
                  </a:cubicBezTo>
                  <a:lnTo>
                    <a:pt x="2116" y="215"/>
                  </a:lnTo>
                  <a:lnTo>
                    <a:pt x="1961" y="215"/>
                  </a:lnTo>
                  <a:cubicBezTo>
                    <a:pt x="1290" y="266"/>
                    <a:pt x="774" y="524"/>
                    <a:pt x="465" y="937"/>
                  </a:cubicBezTo>
                  <a:cubicBezTo>
                    <a:pt x="155" y="1401"/>
                    <a:pt x="0" y="2175"/>
                    <a:pt x="104" y="3207"/>
                  </a:cubicBezTo>
                  <a:cubicBezTo>
                    <a:pt x="207" y="3929"/>
                    <a:pt x="413" y="4497"/>
                    <a:pt x="774" y="4961"/>
                  </a:cubicBezTo>
                  <a:cubicBezTo>
                    <a:pt x="1135" y="5425"/>
                    <a:pt x="1651" y="5632"/>
                    <a:pt x="2270" y="5632"/>
                  </a:cubicBezTo>
                  <a:lnTo>
                    <a:pt x="2477" y="5580"/>
                  </a:lnTo>
                  <a:cubicBezTo>
                    <a:pt x="3663" y="5477"/>
                    <a:pt x="4334" y="4858"/>
                    <a:pt x="4437" y="3774"/>
                  </a:cubicBezTo>
                  <a:lnTo>
                    <a:pt x="4540" y="2227"/>
                  </a:lnTo>
                  <a:cubicBezTo>
                    <a:pt x="4592" y="1866"/>
                    <a:pt x="4850" y="1659"/>
                    <a:pt x="5314" y="1608"/>
                  </a:cubicBezTo>
                  <a:cubicBezTo>
                    <a:pt x="5341" y="1599"/>
                    <a:pt x="5369" y="1594"/>
                    <a:pt x="5396" y="1594"/>
                  </a:cubicBezTo>
                  <a:cubicBezTo>
                    <a:pt x="5524" y="1594"/>
                    <a:pt x="5651" y="1687"/>
                    <a:pt x="5778" y="1814"/>
                  </a:cubicBezTo>
                  <a:cubicBezTo>
                    <a:pt x="5933" y="1969"/>
                    <a:pt x="6036" y="2227"/>
                    <a:pt x="6088" y="2536"/>
                  </a:cubicBezTo>
                  <a:cubicBezTo>
                    <a:pt x="6088" y="2897"/>
                    <a:pt x="6036" y="3155"/>
                    <a:pt x="5933" y="3362"/>
                  </a:cubicBezTo>
                  <a:cubicBezTo>
                    <a:pt x="5830" y="3568"/>
                    <a:pt x="5572" y="3723"/>
                    <a:pt x="5159" y="3774"/>
                  </a:cubicBezTo>
                  <a:lnTo>
                    <a:pt x="5314" y="5167"/>
                  </a:lnTo>
                  <a:lnTo>
                    <a:pt x="5469" y="5167"/>
                  </a:lnTo>
                  <a:cubicBezTo>
                    <a:pt x="6965" y="5012"/>
                    <a:pt x="7584" y="4084"/>
                    <a:pt x="7429" y="2382"/>
                  </a:cubicBezTo>
                  <a:cubicBezTo>
                    <a:pt x="7326" y="1659"/>
                    <a:pt x="7120" y="1040"/>
                    <a:pt x="6655" y="576"/>
                  </a:cubicBezTo>
                  <a:cubicBezTo>
                    <a:pt x="6284" y="205"/>
                    <a:pt x="5830" y="1"/>
                    <a:pt x="52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grpSp>
      <p:sp>
        <p:nvSpPr>
          <p:cNvPr id="158" name="Google Shape;158;p24"/>
          <p:cNvSpPr/>
          <p:nvPr/>
        </p:nvSpPr>
        <p:spPr>
          <a:xfrm>
            <a:off x="8184900" y="3389925"/>
            <a:ext cx="815400" cy="815400"/>
          </a:xfrm>
          <a:prstGeom prst="donut">
            <a:avLst>
              <a:gd name="adj" fmla="val 25000"/>
            </a:avLst>
          </a:prstGeom>
          <a:solidFill>
            <a:schemeClr val="accent1"/>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8_1_1">
    <p:spTree>
      <p:nvGrpSpPr>
        <p:cNvPr id="1" name="Shape 159"/>
        <p:cNvGrpSpPr/>
        <p:nvPr/>
      </p:nvGrpSpPr>
      <p:grpSpPr>
        <a:xfrm>
          <a:off x="0" y="0"/>
          <a:ext cx="0" cy="0"/>
          <a:chOff x="0" y="0"/>
          <a:chExt cx="0" cy="0"/>
        </a:xfrm>
      </p:grpSpPr>
      <p:sp>
        <p:nvSpPr>
          <p:cNvPr id="160" name="Google Shape;160;p25"/>
          <p:cNvSpPr/>
          <p:nvPr/>
        </p:nvSpPr>
        <p:spPr>
          <a:xfrm rot="-5400000">
            <a:off x="8134500" y="-297574"/>
            <a:ext cx="424500" cy="1307100"/>
          </a:xfrm>
          <a:prstGeom prst="round2SameRect">
            <a:avLst>
              <a:gd name="adj1" fmla="val 50000"/>
              <a:gd name="adj2" fmla="val 13354"/>
            </a:avLst>
          </a:prstGeom>
          <a:solidFill>
            <a:schemeClr val="accent1"/>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61" name="Google Shape;161;p25"/>
          <p:cNvSpPr/>
          <p:nvPr/>
        </p:nvSpPr>
        <p:spPr>
          <a:xfrm>
            <a:off x="147750" y="3437550"/>
            <a:ext cx="815400" cy="815400"/>
          </a:xfrm>
          <a:prstGeom prst="donut">
            <a:avLst>
              <a:gd name="adj" fmla="val 25000"/>
            </a:avLst>
          </a:prstGeom>
          <a:solidFill>
            <a:schemeClr val="l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162" name="Google Shape;162;p25"/>
          <p:cNvSpPr/>
          <p:nvPr/>
        </p:nvSpPr>
        <p:spPr>
          <a:xfrm>
            <a:off x="147750" y="4374900"/>
            <a:ext cx="1133100" cy="624900"/>
          </a:xfrm>
          <a:prstGeom prst="ellipse">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accent1"/>
                </a:solidFill>
                <a:latin typeface="Viga"/>
                <a:ea typeface="Viga"/>
                <a:cs typeface="Viga"/>
                <a:sym typeface="Viga"/>
              </a:rPr>
              <a:t>Protein</a:t>
            </a:r>
            <a:endParaRPr>
              <a:solidFill>
                <a:schemeClr val="accent1"/>
              </a:solidFill>
              <a:latin typeface="Viga"/>
              <a:ea typeface="Viga"/>
              <a:cs typeface="Viga"/>
              <a:sym typeface="Viga"/>
            </a:endParaRPr>
          </a:p>
        </p:txBody>
      </p:sp>
      <p:sp>
        <p:nvSpPr>
          <p:cNvPr id="163" name="Google Shape;163;p25"/>
          <p:cNvSpPr/>
          <p:nvPr/>
        </p:nvSpPr>
        <p:spPr>
          <a:xfrm rot="8101323">
            <a:off x="7764034" y="663634"/>
            <a:ext cx="551331" cy="551331"/>
          </a:xfrm>
          <a:prstGeom prst="teardrop">
            <a:avLst>
              <a:gd name="adj" fmla="val 100000"/>
            </a:avLst>
          </a:prstGeom>
          <a:solidFill>
            <a:schemeClr val="dk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grpSp>
        <p:nvGrpSpPr>
          <p:cNvPr id="164" name="Google Shape;164;p25"/>
          <p:cNvGrpSpPr/>
          <p:nvPr/>
        </p:nvGrpSpPr>
        <p:grpSpPr>
          <a:xfrm rot="5400000">
            <a:off x="7600875" y="1464875"/>
            <a:ext cx="2209950" cy="552300"/>
            <a:chOff x="9467850" y="1553225"/>
            <a:chExt cx="2209950" cy="552300"/>
          </a:xfrm>
        </p:grpSpPr>
        <p:sp>
          <p:nvSpPr>
            <p:cNvPr id="165" name="Google Shape;165;p25"/>
            <p:cNvSpPr/>
            <p:nvPr/>
          </p:nvSpPr>
          <p:spPr>
            <a:xfrm rot="-5400000">
              <a:off x="10296600" y="724475"/>
              <a:ext cx="552300" cy="2209800"/>
            </a:xfrm>
            <a:prstGeom prst="round2SameRect">
              <a:avLst>
                <a:gd name="adj1" fmla="val 50000"/>
                <a:gd name="adj2" fmla="val 13354"/>
              </a:avLst>
            </a:prstGeom>
            <a:solidFill>
              <a:schemeClr val="l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accent1"/>
                </a:solidFill>
                <a:latin typeface="Agency FB" panose="020B0503020202020204" pitchFamily="34" charset="0"/>
              </a:endParaRPr>
            </a:p>
          </p:txBody>
        </p:sp>
        <p:sp>
          <p:nvSpPr>
            <p:cNvPr id="166" name="Google Shape;166;p25"/>
            <p:cNvSpPr txBox="1"/>
            <p:nvPr/>
          </p:nvSpPr>
          <p:spPr>
            <a:xfrm>
              <a:off x="9468000" y="1619825"/>
              <a:ext cx="2209800" cy="304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1"/>
                  </a:solidFill>
                  <a:latin typeface="Viga"/>
                  <a:ea typeface="Viga"/>
                  <a:cs typeface="Viga"/>
                  <a:sym typeface="Viga"/>
                </a:rPr>
                <a:t>sodium dodecyl sulfate</a:t>
              </a:r>
              <a:endParaRPr>
                <a:solidFill>
                  <a:schemeClr val="accent1"/>
                </a:solidFill>
                <a:latin typeface="Lato"/>
                <a:ea typeface="Lato"/>
                <a:cs typeface="Lato"/>
                <a:sym typeface="Lato"/>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4300" y="549600"/>
            <a:ext cx="7715400" cy="4680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Clr>
                <a:schemeClr val="accent1"/>
              </a:buClr>
              <a:buSzPts val="3100"/>
              <a:buFont typeface="Viga"/>
              <a:buNone/>
              <a:defRPr sz="3100">
                <a:solidFill>
                  <a:schemeClr val="accent1"/>
                </a:solidFill>
                <a:latin typeface="Viga"/>
                <a:ea typeface="Viga"/>
                <a:cs typeface="Viga"/>
                <a:sym typeface="Viga"/>
              </a:defRPr>
            </a:lvl1pPr>
            <a:lvl2pPr lvl="1">
              <a:lnSpc>
                <a:spcPct val="100000"/>
              </a:lnSpc>
              <a:spcBef>
                <a:spcPts val="0"/>
              </a:spcBef>
              <a:spcAft>
                <a:spcPts val="0"/>
              </a:spcAft>
              <a:buClr>
                <a:schemeClr val="accent1"/>
              </a:buClr>
              <a:buSzPts val="3100"/>
              <a:buFont typeface="Viga"/>
              <a:buNone/>
              <a:defRPr sz="3100">
                <a:solidFill>
                  <a:schemeClr val="accent1"/>
                </a:solidFill>
                <a:latin typeface="Viga"/>
                <a:ea typeface="Viga"/>
                <a:cs typeface="Viga"/>
                <a:sym typeface="Viga"/>
              </a:defRPr>
            </a:lvl2pPr>
            <a:lvl3pPr lvl="2">
              <a:lnSpc>
                <a:spcPct val="100000"/>
              </a:lnSpc>
              <a:spcBef>
                <a:spcPts val="0"/>
              </a:spcBef>
              <a:spcAft>
                <a:spcPts val="0"/>
              </a:spcAft>
              <a:buClr>
                <a:schemeClr val="accent1"/>
              </a:buClr>
              <a:buSzPts val="3100"/>
              <a:buFont typeface="Viga"/>
              <a:buNone/>
              <a:defRPr sz="3100">
                <a:solidFill>
                  <a:schemeClr val="accent1"/>
                </a:solidFill>
                <a:latin typeface="Viga"/>
                <a:ea typeface="Viga"/>
                <a:cs typeface="Viga"/>
                <a:sym typeface="Viga"/>
              </a:defRPr>
            </a:lvl3pPr>
            <a:lvl4pPr lvl="3">
              <a:lnSpc>
                <a:spcPct val="100000"/>
              </a:lnSpc>
              <a:spcBef>
                <a:spcPts val="0"/>
              </a:spcBef>
              <a:spcAft>
                <a:spcPts val="0"/>
              </a:spcAft>
              <a:buClr>
                <a:schemeClr val="accent1"/>
              </a:buClr>
              <a:buSzPts val="3100"/>
              <a:buFont typeface="Viga"/>
              <a:buNone/>
              <a:defRPr sz="3100">
                <a:solidFill>
                  <a:schemeClr val="accent1"/>
                </a:solidFill>
                <a:latin typeface="Viga"/>
                <a:ea typeface="Viga"/>
                <a:cs typeface="Viga"/>
                <a:sym typeface="Viga"/>
              </a:defRPr>
            </a:lvl4pPr>
            <a:lvl5pPr lvl="4">
              <a:lnSpc>
                <a:spcPct val="100000"/>
              </a:lnSpc>
              <a:spcBef>
                <a:spcPts val="0"/>
              </a:spcBef>
              <a:spcAft>
                <a:spcPts val="0"/>
              </a:spcAft>
              <a:buClr>
                <a:schemeClr val="accent1"/>
              </a:buClr>
              <a:buSzPts val="3100"/>
              <a:buFont typeface="Viga"/>
              <a:buNone/>
              <a:defRPr sz="3100">
                <a:solidFill>
                  <a:schemeClr val="accent1"/>
                </a:solidFill>
                <a:latin typeface="Viga"/>
                <a:ea typeface="Viga"/>
                <a:cs typeface="Viga"/>
                <a:sym typeface="Viga"/>
              </a:defRPr>
            </a:lvl5pPr>
            <a:lvl6pPr lvl="5">
              <a:lnSpc>
                <a:spcPct val="100000"/>
              </a:lnSpc>
              <a:spcBef>
                <a:spcPts val="0"/>
              </a:spcBef>
              <a:spcAft>
                <a:spcPts val="0"/>
              </a:spcAft>
              <a:buClr>
                <a:schemeClr val="accent1"/>
              </a:buClr>
              <a:buSzPts val="3100"/>
              <a:buFont typeface="Viga"/>
              <a:buNone/>
              <a:defRPr sz="3100">
                <a:solidFill>
                  <a:schemeClr val="accent1"/>
                </a:solidFill>
                <a:latin typeface="Viga"/>
                <a:ea typeface="Viga"/>
                <a:cs typeface="Viga"/>
                <a:sym typeface="Viga"/>
              </a:defRPr>
            </a:lvl6pPr>
            <a:lvl7pPr lvl="6">
              <a:lnSpc>
                <a:spcPct val="100000"/>
              </a:lnSpc>
              <a:spcBef>
                <a:spcPts val="0"/>
              </a:spcBef>
              <a:spcAft>
                <a:spcPts val="0"/>
              </a:spcAft>
              <a:buClr>
                <a:schemeClr val="accent1"/>
              </a:buClr>
              <a:buSzPts val="3100"/>
              <a:buFont typeface="Viga"/>
              <a:buNone/>
              <a:defRPr sz="3100">
                <a:solidFill>
                  <a:schemeClr val="accent1"/>
                </a:solidFill>
                <a:latin typeface="Viga"/>
                <a:ea typeface="Viga"/>
                <a:cs typeface="Viga"/>
                <a:sym typeface="Viga"/>
              </a:defRPr>
            </a:lvl7pPr>
            <a:lvl8pPr lvl="7">
              <a:lnSpc>
                <a:spcPct val="100000"/>
              </a:lnSpc>
              <a:spcBef>
                <a:spcPts val="0"/>
              </a:spcBef>
              <a:spcAft>
                <a:spcPts val="0"/>
              </a:spcAft>
              <a:buClr>
                <a:schemeClr val="accent1"/>
              </a:buClr>
              <a:buSzPts val="3100"/>
              <a:buFont typeface="Viga"/>
              <a:buNone/>
              <a:defRPr sz="3100">
                <a:solidFill>
                  <a:schemeClr val="accent1"/>
                </a:solidFill>
                <a:latin typeface="Viga"/>
                <a:ea typeface="Viga"/>
                <a:cs typeface="Viga"/>
                <a:sym typeface="Viga"/>
              </a:defRPr>
            </a:lvl8pPr>
            <a:lvl9pPr lvl="8">
              <a:lnSpc>
                <a:spcPct val="100000"/>
              </a:lnSpc>
              <a:spcBef>
                <a:spcPts val="0"/>
              </a:spcBef>
              <a:spcAft>
                <a:spcPts val="0"/>
              </a:spcAft>
              <a:buClr>
                <a:schemeClr val="accent1"/>
              </a:buClr>
              <a:buSzPts val="3100"/>
              <a:buFont typeface="Viga"/>
              <a:buNone/>
              <a:defRPr sz="3100">
                <a:solidFill>
                  <a:schemeClr val="accent1"/>
                </a:solidFill>
                <a:latin typeface="Viga"/>
                <a:ea typeface="Viga"/>
                <a:cs typeface="Viga"/>
                <a:sym typeface="Viga"/>
              </a:defRPr>
            </a:lvl9pPr>
          </a:lstStyle>
          <a:p>
            <a:endParaRPr/>
          </a:p>
        </p:txBody>
      </p:sp>
      <p:sp>
        <p:nvSpPr>
          <p:cNvPr id="7" name="Google Shape;7;p1"/>
          <p:cNvSpPr txBox="1">
            <a:spLocks noGrp="1"/>
          </p:cNvSpPr>
          <p:nvPr>
            <p:ph type="body" idx="1"/>
          </p:nvPr>
        </p:nvSpPr>
        <p:spPr>
          <a:xfrm>
            <a:off x="714300" y="1152475"/>
            <a:ext cx="77154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Lato"/>
              <a:buChar char="●"/>
              <a:defRPr sz="1800">
                <a:solidFill>
                  <a:schemeClr val="dk1"/>
                </a:solidFill>
                <a:latin typeface="Lato"/>
                <a:ea typeface="Lato"/>
                <a:cs typeface="Lato"/>
                <a:sym typeface="Lato"/>
              </a:defRPr>
            </a:lvl1pPr>
            <a:lvl2pPr marL="914400" lvl="1"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marL="1371600" lvl="2"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marL="1828800" lvl="3"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marL="2286000" lvl="4"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marL="2743200" lvl="5"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marL="3200400" lvl="6"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marL="3657600" lvl="7"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marL="4114800" lvl="8"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Agency FB" panose="020B0503020202020204" pitchFamily="34" charset="0"/>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fld id="{00000000-1234-1234-1234-123412341234}" type="slidenum">
              <a:rPr lang="fr-FR" smtClean="0"/>
              <a:pPr/>
              <a:t>‹N°›</a:t>
            </a:fld>
            <a:endParaRPr lang="fr-FR" dirty="0"/>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5" r:id="rId4"/>
    <p:sldLayoutId id="2147483658" r:id="rId5"/>
    <p:sldLayoutId id="2147483659" r:id="rId6"/>
    <p:sldLayoutId id="2147483661" r:id="rId7"/>
    <p:sldLayoutId id="2147483662" r:id="rId8"/>
    <p:sldLayoutId id="2147483663"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8F8F7"/>
        </a:solidFill>
        <a:effectLst/>
      </p:bgPr>
    </p:bg>
    <p:spTree>
      <p:nvGrpSpPr>
        <p:cNvPr id="1" name="Shape 178"/>
        <p:cNvGrpSpPr/>
        <p:nvPr/>
      </p:nvGrpSpPr>
      <p:grpSpPr>
        <a:xfrm>
          <a:off x="0" y="0"/>
          <a:ext cx="0" cy="0"/>
          <a:chOff x="0" y="0"/>
          <a:chExt cx="0" cy="0"/>
        </a:xfrm>
      </p:grpSpPr>
      <p:sp>
        <p:nvSpPr>
          <p:cNvPr id="180" name="Google Shape;180;p30"/>
          <p:cNvSpPr txBox="1">
            <a:spLocks noGrp="1"/>
          </p:cNvSpPr>
          <p:nvPr>
            <p:ph type="ctrTitle"/>
          </p:nvPr>
        </p:nvSpPr>
        <p:spPr>
          <a:xfrm flipH="1">
            <a:off x="1797803" y="865475"/>
            <a:ext cx="5176434" cy="2513156"/>
          </a:xfrm>
          <a:prstGeom prst="rect">
            <a:avLst/>
          </a:prstGeom>
        </p:spPr>
        <p:txBody>
          <a:bodyPr spcFirstLastPara="1" wrap="square" lIns="91425" tIns="91425" rIns="91425" bIns="91425" anchor="t" anchorCtr="0">
            <a:noAutofit/>
          </a:bodyPr>
          <a:lstStyle/>
          <a:p>
            <a:pPr lvl="0" algn="r"/>
            <a:r>
              <a:rPr lang="fr-FR" sz="7200" dirty="0">
                <a:solidFill>
                  <a:srgbClr val="FFC000"/>
                </a:solidFill>
                <a:latin typeface="Arial Black" panose="020B0A04020102020204" pitchFamily="34" charset="0"/>
              </a:rPr>
              <a:t>INSSEDSEXPOSE</a:t>
            </a:r>
            <a:endParaRPr sz="7200" dirty="0">
              <a:solidFill>
                <a:srgbClr val="FFC000"/>
              </a:solidFill>
              <a:latin typeface="Arial Black" panose="020B0A040201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7" name="Google Shape;207;p31"/>
          <p:cNvSpPr/>
          <p:nvPr/>
        </p:nvSpPr>
        <p:spPr>
          <a:xfrm rot="-5400000">
            <a:off x="2861937" y="-2861939"/>
            <a:ext cx="3268133" cy="8992010"/>
          </a:xfrm>
          <a:prstGeom prst="round2SameRect">
            <a:avLst>
              <a:gd name="adj1" fmla="val 50000"/>
              <a:gd name="adj2" fmla="val 13354"/>
            </a:avLst>
          </a:prstGeom>
          <a:solidFill>
            <a:schemeClr val="accent1">
              <a:lumMod val="75000"/>
            </a:schemeClr>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
        <p:nvSpPr>
          <p:cNvPr id="2" name="Sous-titre 1"/>
          <p:cNvSpPr>
            <a:spLocks noGrp="1"/>
          </p:cNvSpPr>
          <p:nvPr>
            <p:ph type="subTitle" idx="1"/>
          </p:nvPr>
        </p:nvSpPr>
        <p:spPr>
          <a:xfrm>
            <a:off x="491067" y="372531"/>
            <a:ext cx="8196143" cy="2506135"/>
          </a:xfrm>
        </p:spPr>
        <p:txBody>
          <a:bodyPr/>
          <a:lstStyle/>
          <a:p>
            <a:r>
              <a:rPr lang="fr-FR" sz="4000" dirty="0">
                <a:solidFill>
                  <a:srgbClr val="FFC000"/>
                </a:solidFill>
                <a:latin typeface="Impact" panose="020B0806030902050204" pitchFamily="34" charset="0"/>
              </a:rPr>
              <a:t>Thème : Détermination du seuil </a:t>
            </a:r>
            <a:r>
              <a:rPr lang="fr-FR" sz="4000" dirty="0">
                <a:solidFill>
                  <a:srgbClr val="FFC000"/>
                </a:solidFill>
                <a:latin typeface="Arial Black" panose="020B0A04020102020204" pitchFamily="34" charset="0"/>
              </a:rPr>
              <a:t>entre</a:t>
            </a:r>
            <a:r>
              <a:rPr lang="fr-FR" sz="4000" dirty="0">
                <a:solidFill>
                  <a:srgbClr val="FFC000"/>
                </a:solidFill>
                <a:latin typeface="Impact" panose="020B0806030902050204" pitchFamily="34" charset="0"/>
              </a:rPr>
              <a:t> sinistres attritionnels et sinistres graves par la méthode de l'estimateur de Hill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30" name="Google Shape;230;p32"/>
          <p:cNvSpPr txBox="1">
            <a:spLocks noGrp="1"/>
          </p:cNvSpPr>
          <p:nvPr>
            <p:ph type="subTitle" idx="1"/>
          </p:nvPr>
        </p:nvSpPr>
        <p:spPr>
          <a:xfrm>
            <a:off x="0" y="1486324"/>
            <a:ext cx="5164750" cy="2476076"/>
          </a:xfrm>
          <a:prstGeom prst="rect">
            <a:avLst/>
          </a:prstGeom>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t" anchorCtr="0">
            <a:noAutofit/>
          </a:bodyPr>
          <a:lstStyle/>
          <a:p>
            <a:pPr marL="0" lvl="0" indent="0" algn="l" rtl="0">
              <a:spcBef>
                <a:spcPts val="0"/>
              </a:spcBef>
              <a:spcAft>
                <a:spcPts val="0"/>
              </a:spcAft>
              <a:buNone/>
            </a:pPr>
            <a:r>
              <a:rPr lang="en" sz="2800" b="1" dirty="0">
                <a:solidFill>
                  <a:srgbClr val="0070C0"/>
                </a:solidFill>
                <a:latin typeface="Arial Rounded MT Bold" panose="020F0704030504030204" pitchFamily="34" charset="0"/>
              </a:rPr>
              <a:t>1- CONCEPTE</a:t>
            </a:r>
          </a:p>
          <a:p>
            <a:pPr marL="0" lvl="0" indent="0" algn="l" rtl="0">
              <a:spcBef>
                <a:spcPts val="0"/>
              </a:spcBef>
              <a:spcAft>
                <a:spcPts val="0"/>
              </a:spcAft>
              <a:buNone/>
            </a:pPr>
            <a:r>
              <a:rPr lang="en" sz="2400" b="1" dirty="0">
                <a:solidFill>
                  <a:srgbClr val="0070C0"/>
                </a:solidFill>
                <a:latin typeface="Arial Rounded MT Bold" panose="020F0704030504030204" pitchFamily="34" charset="0"/>
              </a:rPr>
              <a:t>1.1-Sinitre attritionnel vs sinistre grave</a:t>
            </a:r>
          </a:p>
          <a:p>
            <a:pPr marL="0" indent="0"/>
            <a:r>
              <a:rPr lang="fr-FR" sz="2400" b="1" dirty="0">
                <a:solidFill>
                  <a:srgbClr val="FF0000"/>
                </a:solidFill>
                <a:latin typeface="Arial Black" panose="020B0A04020102020204" pitchFamily="34" charset="0"/>
              </a:rPr>
              <a:t>1.2 Queue lourde et distributions de Pareto</a:t>
            </a:r>
          </a:p>
          <a:p>
            <a:pPr marL="0" indent="0"/>
            <a:r>
              <a:rPr lang="fr-FR" sz="2400" b="1" dirty="0">
                <a:solidFill>
                  <a:srgbClr val="FF0000"/>
                </a:solidFill>
                <a:latin typeface="Arial Black" panose="020B0A04020102020204" pitchFamily="34" charset="0"/>
              </a:rPr>
              <a:t>1.3 L’estimateur de Hill</a:t>
            </a:r>
          </a:p>
          <a:p>
            <a:pPr marL="0" indent="0"/>
            <a:endParaRPr lang="fr-FR" b="1" dirty="0">
              <a:solidFill>
                <a:srgbClr val="FF0000"/>
              </a:solidFill>
              <a:latin typeface="Arial Black" panose="020B0A04020102020204" pitchFamily="34" charset="0"/>
            </a:endParaRPr>
          </a:p>
          <a:p>
            <a:pPr marL="0" indent="0"/>
            <a:endParaRPr lang="fr-FR" b="1" dirty="0">
              <a:solidFill>
                <a:srgbClr val="FF0000"/>
              </a:solidFill>
              <a:latin typeface="Arial Black" panose="020B0A04020102020204" pitchFamily="34" charset="0"/>
            </a:endParaRPr>
          </a:p>
          <a:p>
            <a:pPr marL="0" lvl="0" indent="0" algn="l" rtl="0">
              <a:spcBef>
                <a:spcPts val="0"/>
              </a:spcBef>
              <a:spcAft>
                <a:spcPts val="0"/>
              </a:spcAft>
              <a:buNone/>
            </a:pPr>
            <a:endParaRPr dirty="0">
              <a:latin typeface="Arial Rounded MT Bold" panose="020F0704030504030204" pitchFamily="34" charset="0"/>
            </a:endParaRPr>
          </a:p>
        </p:txBody>
      </p:sp>
      <p:sp>
        <p:nvSpPr>
          <p:cNvPr id="231" name="Google Shape;231;p32"/>
          <p:cNvSpPr txBox="1">
            <a:spLocks noGrp="1"/>
          </p:cNvSpPr>
          <p:nvPr>
            <p:ph type="title"/>
          </p:nvPr>
        </p:nvSpPr>
        <p:spPr>
          <a:xfrm>
            <a:off x="0" y="-150624"/>
            <a:ext cx="9144000" cy="871930"/>
          </a:xfrm>
          <a:prstGeom prst="rect">
            <a:avLst/>
          </a:prstGeom>
          <a:solidFill>
            <a:srgbClr val="002060"/>
          </a:solidFill>
        </p:spPr>
        <p:txBody>
          <a:bodyPr spcFirstLastPara="1" wrap="square" lIns="91425" tIns="91425" rIns="91425" bIns="91425" anchor="t" anchorCtr="0">
            <a:noAutofit/>
          </a:bodyPr>
          <a:lstStyle/>
          <a:p>
            <a:pPr marL="0" lvl="0" indent="0" algn="ctr" rtl="0">
              <a:spcBef>
                <a:spcPts val="0"/>
              </a:spcBef>
              <a:spcAft>
                <a:spcPts val="0"/>
              </a:spcAft>
              <a:buNone/>
            </a:pPr>
            <a:r>
              <a:rPr lang="en" sz="5400" dirty="0">
                <a:solidFill>
                  <a:srgbClr val="FFC000"/>
                </a:solidFill>
                <a:latin typeface="Stencil" panose="040409050D0802020404" pitchFamily="82" charset="0"/>
              </a:rPr>
              <a:t>PLAN </a:t>
            </a:r>
            <a:endParaRPr sz="5400" dirty="0">
              <a:solidFill>
                <a:srgbClr val="FFC000"/>
              </a:solidFill>
              <a:latin typeface="Stencil" panose="040409050D0802020404" pitchFamily="82" charset="0"/>
            </a:endParaRPr>
          </a:p>
        </p:txBody>
      </p:sp>
      <p:sp>
        <p:nvSpPr>
          <p:cNvPr id="232" name="Google Shape;232;p32"/>
          <p:cNvSpPr txBox="1">
            <a:spLocks noGrp="1"/>
          </p:cNvSpPr>
          <p:nvPr>
            <p:ph type="title" idx="2"/>
          </p:nvPr>
        </p:nvSpPr>
        <p:spPr>
          <a:xfrm>
            <a:off x="2795050" y="898015"/>
            <a:ext cx="3091400" cy="58831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solidFill>
                  <a:srgbClr val="0070C0"/>
                </a:solidFill>
                <a:latin typeface="Stencil" panose="040409050D0802020404" pitchFamily="82" charset="0"/>
              </a:rPr>
              <a:t>-INTRODUCTON</a:t>
            </a:r>
            <a:endParaRPr sz="2800" dirty="0">
              <a:solidFill>
                <a:srgbClr val="0070C0"/>
              </a:solidFill>
              <a:latin typeface="Stencil" panose="040409050D0802020404" pitchFamily="82" charset="0"/>
            </a:endParaRPr>
          </a:p>
        </p:txBody>
      </p:sp>
      <p:sp>
        <p:nvSpPr>
          <p:cNvPr id="234" name="Google Shape;234;p32"/>
          <p:cNvSpPr txBox="1">
            <a:spLocks noGrp="1"/>
          </p:cNvSpPr>
          <p:nvPr>
            <p:ph type="subTitle" idx="4"/>
          </p:nvPr>
        </p:nvSpPr>
        <p:spPr>
          <a:xfrm>
            <a:off x="0" y="4152900"/>
            <a:ext cx="5164750" cy="990599"/>
          </a:xfrm>
          <a:prstGeom prst="rect">
            <a:avLst/>
          </a:prstGeom>
        </p:spPr>
        <p:txBody>
          <a:bodyPr spcFirstLastPara="1" wrap="square" lIns="91425" tIns="91425" rIns="91425" bIns="91425" anchor="t" anchorCtr="0">
            <a:noAutofit/>
          </a:bodyPr>
          <a:lstStyle/>
          <a:p>
            <a:pPr marL="0" lvl="0" indent="0">
              <a:buClr>
                <a:schemeClr val="hlink"/>
              </a:buClr>
              <a:buSzPts val="1100"/>
            </a:pPr>
            <a:r>
              <a:rPr lang="fr-FR" sz="2200" dirty="0">
                <a:solidFill>
                  <a:srgbClr val="FF0000"/>
                </a:solidFill>
                <a:latin typeface="Arial Black" panose="020B0A04020102020204" pitchFamily="34" charset="0"/>
              </a:rPr>
              <a:t>3.PRESENTATION GRAPHIQUE</a:t>
            </a:r>
          </a:p>
          <a:p>
            <a:pPr marL="0" indent="0">
              <a:buClr>
                <a:schemeClr val="hlink"/>
              </a:buClr>
              <a:buSzPts val="1100"/>
            </a:pPr>
            <a:r>
              <a:rPr lang="fr-FR" sz="2200" dirty="0">
                <a:solidFill>
                  <a:srgbClr val="FF0000"/>
                </a:solidFill>
                <a:latin typeface="Arial Black" panose="020B0A04020102020204" pitchFamily="34" charset="0"/>
              </a:rPr>
              <a:t>- Cas pratique</a:t>
            </a:r>
          </a:p>
          <a:p>
            <a:pPr marL="0" lvl="0" indent="0">
              <a:buClr>
                <a:schemeClr val="hlink"/>
              </a:buClr>
              <a:buSzPts val="1100"/>
            </a:pPr>
            <a:endParaRPr lang="fr-FR" sz="2200" dirty="0">
              <a:solidFill>
                <a:srgbClr val="FF0000"/>
              </a:solidFill>
              <a:latin typeface="Arial Black" panose="020B0A04020102020204" pitchFamily="34" charset="0"/>
            </a:endParaRPr>
          </a:p>
          <a:p>
            <a:pPr marL="0" lvl="0" indent="0">
              <a:buClr>
                <a:schemeClr val="hlink"/>
              </a:buClr>
              <a:buSzPts val="1100"/>
            </a:pPr>
            <a:endParaRPr dirty="0">
              <a:latin typeface="Impact" panose="020B0806030902050204" pitchFamily="34" charset="0"/>
            </a:endParaRPr>
          </a:p>
        </p:txBody>
      </p:sp>
      <p:sp>
        <p:nvSpPr>
          <p:cNvPr id="238" name="Google Shape;238;p32"/>
          <p:cNvSpPr txBox="1">
            <a:spLocks noGrp="1"/>
          </p:cNvSpPr>
          <p:nvPr>
            <p:ph type="title" idx="5"/>
          </p:nvPr>
        </p:nvSpPr>
        <p:spPr>
          <a:xfrm>
            <a:off x="5336200" y="1486324"/>
            <a:ext cx="3807800" cy="2818976"/>
          </a:xfrm>
          <a:prstGeom prst="rect">
            <a:avLst/>
          </a:prstGeom>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t" anchorCtr="0">
            <a:noAutofit/>
          </a:bodyPr>
          <a:lstStyle/>
          <a:p>
            <a:pPr marL="0" lvl="0" indent="0" algn="l" rtl="0">
              <a:spcBef>
                <a:spcPts val="0"/>
              </a:spcBef>
              <a:spcAft>
                <a:spcPts val="0"/>
              </a:spcAft>
              <a:buNone/>
            </a:pPr>
            <a:r>
              <a:rPr lang="en" sz="2800" dirty="0">
                <a:solidFill>
                  <a:srgbClr val="0070C0"/>
                </a:solidFill>
              </a:rPr>
              <a:t>2. Methodologie</a:t>
            </a:r>
            <a:endParaRPr sz="2800" dirty="0">
              <a:solidFill>
                <a:srgbClr val="0070C0"/>
              </a:solidFill>
            </a:endParaRPr>
          </a:p>
        </p:txBody>
      </p:sp>
      <p:sp>
        <p:nvSpPr>
          <p:cNvPr id="241" name="Google Shape;241;p32"/>
          <p:cNvSpPr txBox="1">
            <a:spLocks noGrp="1"/>
          </p:cNvSpPr>
          <p:nvPr>
            <p:ph type="title" idx="6"/>
          </p:nvPr>
        </p:nvSpPr>
        <p:spPr>
          <a:xfrm rot="10800000" flipV="1">
            <a:off x="6060000" y="4533900"/>
            <a:ext cx="2817300" cy="609599"/>
          </a:xfrm>
          <a:prstGeom prst="rect">
            <a:avLst/>
          </a:prstGeom>
        </p:spPr>
        <p:txBody>
          <a:bodyPr spcFirstLastPara="1" wrap="square" lIns="91425" tIns="91425" rIns="91425" bIns="91425" anchor="t" anchorCtr="0">
            <a:noAutofit/>
          </a:bodyPr>
          <a:lstStyle/>
          <a:p>
            <a:pPr algn="ctr">
              <a:buSzPts val="3600"/>
            </a:pPr>
            <a:r>
              <a:rPr lang="en" b="1" dirty="0">
                <a:solidFill>
                  <a:srgbClr val="0070C0"/>
                </a:solidFill>
              </a:rPr>
              <a:t>Conclusions</a:t>
            </a:r>
            <a:endParaRPr sz="2900" b="1" dirty="0">
              <a:solidFill>
                <a:srgbClr val="0070C0"/>
              </a:solidFill>
            </a:endParaRPr>
          </a:p>
        </p:txBody>
      </p:sp>
      <p:sp>
        <p:nvSpPr>
          <p:cNvPr id="237" name="Google Shape;237;p32"/>
          <p:cNvSpPr txBox="1">
            <a:spLocks noGrp="1"/>
          </p:cNvSpPr>
          <p:nvPr>
            <p:ph type="subTitle" idx="7"/>
          </p:nvPr>
        </p:nvSpPr>
        <p:spPr>
          <a:xfrm>
            <a:off x="5336200" y="2019300"/>
            <a:ext cx="3807800" cy="2286000"/>
          </a:xfrm>
          <a:prstGeom prst="rect">
            <a:avLst/>
          </a:prstGeom>
        </p:spPr>
        <p:txBody>
          <a:bodyPr spcFirstLastPara="1" wrap="square" lIns="91425" tIns="91425" rIns="91425" bIns="91425" anchor="t" anchorCtr="0">
            <a:noAutofit/>
          </a:bodyPr>
          <a:lstStyle/>
          <a:p>
            <a:pPr marL="0" indent="0">
              <a:buClr>
                <a:schemeClr val="hlink"/>
              </a:buClr>
              <a:buSzPts val="1100"/>
            </a:pPr>
            <a:r>
              <a:rPr lang="fr-FR" sz="2400" b="1" dirty="0">
                <a:solidFill>
                  <a:srgbClr val="FF0000"/>
                </a:solidFill>
                <a:latin typeface="Arial Black" panose="020B0A04020102020204" pitchFamily="34" charset="0"/>
              </a:rPr>
              <a:t>2.1 Les étapes de la détermination du seuil</a:t>
            </a:r>
          </a:p>
          <a:p>
            <a:pPr algn="ctr"/>
            <a:r>
              <a:rPr lang="fr-FR" sz="2400" b="1" dirty="0">
                <a:solidFill>
                  <a:srgbClr val="FF0000"/>
                </a:solidFill>
                <a:latin typeface="Arial Black" panose="020B0A04020102020204" pitchFamily="34" charset="0"/>
              </a:rPr>
              <a:t>2.2 Visualisation des données et du graphique de Hill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3"/>
          <p:cNvSpPr txBox="1">
            <a:spLocks noGrp="1"/>
          </p:cNvSpPr>
          <p:nvPr>
            <p:ph type="title"/>
          </p:nvPr>
        </p:nvSpPr>
        <p:spPr>
          <a:xfrm>
            <a:off x="0" y="0"/>
            <a:ext cx="9143999" cy="558800"/>
          </a:xfrm>
          <a:prstGeom prst="rect">
            <a:avLst/>
          </a:prstGeom>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b" anchorCtr="0">
            <a:noAutofit/>
          </a:bodyPr>
          <a:lstStyle/>
          <a:p>
            <a:pPr marL="0" lvl="0" indent="0" algn="ctr" rtl="0">
              <a:spcBef>
                <a:spcPts val="0"/>
              </a:spcBef>
              <a:spcAft>
                <a:spcPts val="0"/>
              </a:spcAft>
              <a:buNone/>
            </a:pPr>
            <a:r>
              <a:rPr lang="en" sz="4000" b="1" dirty="0">
                <a:solidFill>
                  <a:srgbClr val="FF0000"/>
                </a:solidFill>
                <a:latin typeface="Sitka Subheading" panose="02000505000000020004" pitchFamily="2" charset="0"/>
              </a:rPr>
              <a:t>Introduction</a:t>
            </a:r>
            <a:endParaRPr sz="4000" b="1" dirty="0">
              <a:solidFill>
                <a:srgbClr val="FF0000"/>
              </a:solidFill>
              <a:latin typeface="Sitka Subheading" panose="02000505000000020004" pitchFamily="2" charset="0"/>
            </a:endParaRPr>
          </a:p>
        </p:txBody>
      </p:sp>
      <p:sp>
        <p:nvSpPr>
          <p:cNvPr id="251" name="Google Shape;251;p33"/>
          <p:cNvSpPr txBox="1">
            <a:spLocks noGrp="1"/>
          </p:cNvSpPr>
          <p:nvPr>
            <p:ph type="subTitle" idx="1"/>
          </p:nvPr>
        </p:nvSpPr>
        <p:spPr>
          <a:xfrm>
            <a:off x="1" y="406400"/>
            <a:ext cx="9144000" cy="5096933"/>
          </a:xfrm>
          <a:prstGeom prst="rect">
            <a:avLst/>
          </a:prstGeom>
        </p:spPr>
        <p:txBody>
          <a:bodyPr spcFirstLastPara="1" wrap="square" lIns="91425" tIns="91425" rIns="91425" bIns="91425" anchor="t" anchorCtr="0">
            <a:noAutofit/>
          </a:bodyPr>
          <a:lstStyle/>
          <a:p>
            <a:r>
              <a:rPr lang="fr-FR" sz="2200" dirty="0">
                <a:solidFill>
                  <a:schemeClr val="bg1">
                    <a:lumMod val="10000"/>
                  </a:schemeClr>
                </a:solidFill>
                <a:latin typeface="Arial Black" panose="020B0A04020102020204" pitchFamily="34" charset="0"/>
              </a:rPr>
              <a:t>Dans le domaine de l’assurance et de la gestion des risques, il est essentiel de distinguer les </a:t>
            </a:r>
            <a:r>
              <a:rPr lang="fr-FR" sz="2200" b="1" dirty="0">
                <a:solidFill>
                  <a:schemeClr val="bg1">
                    <a:lumMod val="10000"/>
                  </a:schemeClr>
                </a:solidFill>
                <a:latin typeface="Arial Black" panose="020B0A04020102020204" pitchFamily="34" charset="0"/>
              </a:rPr>
              <a:t>sinistres attritionnels</a:t>
            </a:r>
            <a:r>
              <a:rPr lang="fr-FR" sz="2200" dirty="0">
                <a:solidFill>
                  <a:schemeClr val="bg1">
                    <a:lumMod val="10000"/>
                  </a:schemeClr>
                </a:solidFill>
                <a:latin typeface="Arial Black" panose="020B0A04020102020204" pitchFamily="34" charset="0"/>
              </a:rPr>
              <a:t> des </a:t>
            </a:r>
            <a:r>
              <a:rPr lang="fr-FR" sz="2200" b="1" dirty="0">
                <a:solidFill>
                  <a:schemeClr val="bg1">
                    <a:lumMod val="10000"/>
                  </a:schemeClr>
                </a:solidFill>
                <a:latin typeface="Arial Black" panose="020B0A04020102020204" pitchFamily="34" charset="0"/>
              </a:rPr>
              <a:t>sinistres graves</a:t>
            </a:r>
            <a:r>
              <a:rPr lang="fr-FR" sz="2200" dirty="0">
                <a:solidFill>
                  <a:schemeClr val="bg1">
                    <a:lumMod val="10000"/>
                  </a:schemeClr>
                </a:solidFill>
                <a:latin typeface="Arial Black" panose="020B0A04020102020204" pitchFamily="34" charset="0"/>
              </a:rPr>
              <a:t>. Les sinistres attritionnels sont des sinistres fréquents mais de faible montant, tandis que les sinistres graves sont rares mais peuvent entraîner des pertes considérables. Identifier un seuil optimal entre ces deux catégories est crucial pour une gestion efficace des provisions et de la réassurance.</a:t>
            </a:r>
          </a:p>
          <a:p>
            <a:r>
              <a:rPr lang="fr-FR" sz="2200" dirty="0">
                <a:solidFill>
                  <a:schemeClr val="bg1">
                    <a:lumMod val="10000"/>
                  </a:schemeClr>
                </a:solidFill>
                <a:latin typeface="Arial Black" panose="020B0A04020102020204" pitchFamily="34" charset="0"/>
              </a:rPr>
              <a:t>L’estimateur de Hill est une méthode statistique permettant d’analyser les queues lourdes des distributions. Il est particulièrement utile pour déterminer le seuil à partir duquel un sinistre peut être considéré comme grave.</a:t>
            </a:r>
          </a:p>
          <a:p>
            <a:pPr marL="0" lvl="0" indent="0" algn="l" rtl="0">
              <a:spcBef>
                <a:spcPts val="0"/>
              </a:spcBef>
              <a:spcAft>
                <a:spcPts val="0"/>
              </a:spcAft>
              <a:buNone/>
            </a:pPr>
            <a:endParaRPr sz="2200" dirty="0">
              <a:solidFill>
                <a:schemeClr val="bg1">
                  <a:lumMod val="10000"/>
                </a:schemeClr>
              </a:solidFill>
              <a:latin typeface="Arial Black" panose="020B0A040201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300" name="Google Shape;300;p35"/>
          <p:cNvSpPr txBox="1">
            <a:spLocks noGrp="1"/>
          </p:cNvSpPr>
          <p:nvPr>
            <p:ph type="subTitle" idx="1"/>
          </p:nvPr>
        </p:nvSpPr>
        <p:spPr>
          <a:xfrm>
            <a:off x="0" y="506965"/>
            <a:ext cx="9144000" cy="4636535"/>
          </a:xfrm>
          <a:prstGeom prst="rect">
            <a:avLst/>
          </a:prstGeom>
        </p:spPr>
        <p:txBody>
          <a:bodyPr spcFirstLastPara="1" wrap="square" lIns="91425" tIns="91425" rIns="91425" bIns="91425" anchor="t" anchorCtr="0">
            <a:noAutofit/>
          </a:bodyPr>
          <a:lstStyle/>
          <a:p>
            <a:r>
              <a:rPr lang="fr-FR" sz="2400" b="1" dirty="0">
                <a:solidFill>
                  <a:srgbClr val="FF0000"/>
                </a:solidFill>
                <a:latin typeface="Arial Black" panose="020B0A04020102020204" pitchFamily="34" charset="0"/>
              </a:rPr>
              <a:t>1.1 Sinistres attritionnels vs sinistres graves</a:t>
            </a:r>
          </a:p>
          <a:p>
            <a:endParaRPr lang="fr-FR" sz="2400" b="1" dirty="0">
              <a:latin typeface="Arial Black" panose="020B0A04020102020204" pitchFamily="34" charset="0"/>
            </a:endParaRPr>
          </a:p>
          <a:p>
            <a:r>
              <a:rPr lang="fr-FR" sz="2400" b="1" dirty="0">
                <a:solidFill>
                  <a:srgbClr val="FF0000"/>
                </a:solidFill>
                <a:latin typeface="Arial Black" panose="020B0A04020102020204" pitchFamily="34" charset="0"/>
              </a:rPr>
              <a:t>Sinistres attritionnels</a:t>
            </a:r>
            <a:r>
              <a:rPr lang="fr-FR" sz="2400" dirty="0">
                <a:solidFill>
                  <a:srgbClr val="FF0000"/>
                </a:solidFill>
                <a:latin typeface="Arial Black" panose="020B0A04020102020204" pitchFamily="34" charset="0"/>
              </a:rPr>
              <a:t> </a:t>
            </a:r>
            <a:r>
              <a:rPr lang="fr-FR" sz="2400" dirty="0">
                <a:solidFill>
                  <a:schemeClr val="tx1">
                    <a:lumMod val="50000"/>
                  </a:schemeClr>
                </a:solidFill>
                <a:latin typeface="Arial Black" panose="020B0A04020102020204" pitchFamily="34" charset="0"/>
              </a:rPr>
              <a:t>: Fréquents, montants modérés, impact global prévisible.</a:t>
            </a:r>
          </a:p>
          <a:p>
            <a:r>
              <a:rPr lang="fr-FR" sz="2400" b="1" dirty="0">
                <a:solidFill>
                  <a:srgbClr val="FF0000"/>
                </a:solidFill>
                <a:latin typeface="Arial Black" panose="020B0A04020102020204" pitchFamily="34" charset="0"/>
              </a:rPr>
              <a:t>Sinistres graves</a:t>
            </a:r>
            <a:r>
              <a:rPr lang="fr-FR" sz="2400" dirty="0">
                <a:solidFill>
                  <a:srgbClr val="FF0000"/>
                </a:solidFill>
                <a:latin typeface="Arial Black" panose="020B0A04020102020204" pitchFamily="34" charset="0"/>
              </a:rPr>
              <a:t> </a:t>
            </a:r>
            <a:r>
              <a:rPr lang="fr-FR" sz="2400" dirty="0">
                <a:latin typeface="Arial Black" panose="020B0A04020102020204" pitchFamily="34" charset="0"/>
              </a:rPr>
              <a:t>: </a:t>
            </a:r>
            <a:r>
              <a:rPr lang="fr-FR" sz="2400" dirty="0">
                <a:solidFill>
                  <a:schemeClr val="bg1">
                    <a:lumMod val="10000"/>
                  </a:schemeClr>
                </a:solidFill>
                <a:latin typeface="Arial Black" panose="020B0A04020102020204" pitchFamily="34" charset="0"/>
              </a:rPr>
              <a:t>Rares, montants élevés, impact financier important</a:t>
            </a:r>
            <a:r>
              <a:rPr lang="fr-FR" sz="2400" dirty="0">
                <a:latin typeface="Arial Black" panose="020B0A04020102020204" pitchFamily="34" charset="0"/>
              </a:rPr>
              <a:t>.</a:t>
            </a:r>
          </a:p>
          <a:p>
            <a:r>
              <a:rPr lang="fr-FR" sz="2400" dirty="0">
                <a:latin typeface="Arial Black" panose="020B0A04020102020204" pitchFamily="34" charset="0"/>
              </a:rPr>
              <a:t> </a:t>
            </a:r>
          </a:p>
          <a:p>
            <a:r>
              <a:rPr lang="fr-FR" sz="2400" b="1" dirty="0">
                <a:solidFill>
                  <a:srgbClr val="FF0000"/>
                </a:solidFill>
                <a:latin typeface="Arial Black" panose="020B0A04020102020204" pitchFamily="34" charset="0"/>
              </a:rPr>
              <a:t>1.2 Queue lourde et distributions de Pareto</a:t>
            </a:r>
          </a:p>
          <a:p>
            <a:r>
              <a:rPr lang="fr-FR" sz="2400" dirty="0">
                <a:solidFill>
                  <a:schemeClr val="bg1">
                    <a:lumMod val="10000"/>
                  </a:schemeClr>
                </a:solidFill>
                <a:latin typeface="Arial Black" panose="020B0A04020102020204" pitchFamily="34" charset="0"/>
              </a:rPr>
              <a:t>Les sinistres graves suivent souvent une </a:t>
            </a:r>
            <a:r>
              <a:rPr lang="fr-FR" sz="2400" b="1" dirty="0">
                <a:solidFill>
                  <a:schemeClr val="bg1">
                    <a:lumMod val="10000"/>
                  </a:schemeClr>
                </a:solidFill>
                <a:latin typeface="Arial Black" panose="020B0A04020102020204" pitchFamily="34" charset="0"/>
              </a:rPr>
              <a:t>loi de Pareto</a:t>
            </a:r>
            <a:r>
              <a:rPr lang="fr-FR" sz="2400" dirty="0">
                <a:solidFill>
                  <a:schemeClr val="bg1">
                    <a:lumMod val="10000"/>
                  </a:schemeClr>
                </a:solidFill>
                <a:latin typeface="Arial Black" panose="020B0A04020102020204" pitchFamily="34" charset="0"/>
              </a:rPr>
              <a:t>, qui est caractérisée par une </a:t>
            </a:r>
            <a:r>
              <a:rPr lang="fr-FR" sz="2400" b="1" dirty="0">
                <a:solidFill>
                  <a:schemeClr val="bg1">
                    <a:lumMod val="10000"/>
                  </a:schemeClr>
                </a:solidFill>
                <a:latin typeface="Arial Black" panose="020B0A04020102020204" pitchFamily="34" charset="0"/>
              </a:rPr>
              <a:t>queue lourde</a:t>
            </a:r>
            <a:r>
              <a:rPr lang="fr-FR" sz="2400" dirty="0">
                <a:solidFill>
                  <a:schemeClr val="bg1">
                    <a:lumMod val="10000"/>
                  </a:schemeClr>
                </a:solidFill>
                <a:latin typeface="Arial Black" panose="020B0A04020102020204" pitchFamily="34" charset="0"/>
              </a:rPr>
              <a:t>, c’est-à-dire une probabilité non négligeable d’observations extrêmement grandes.</a:t>
            </a:r>
          </a:p>
          <a:p>
            <a:pPr marL="0" lvl="0" indent="0" rtl="0">
              <a:spcBef>
                <a:spcPts val="0"/>
              </a:spcBef>
              <a:spcAft>
                <a:spcPts val="0"/>
              </a:spcAft>
              <a:buNone/>
            </a:pPr>
            <a:endParaRPr sz="2400" dirty="0">
              <a:solidFill>
                <a:schemeClr val="bg1">
                  <a:lumMod val="10000"/>
                </a:schemeClr>
              </a:solidFill>
              <a:latin typeface="Arial Black" panose="020B0A04020102020204" pitchFamily="34" charset="0"/>
            </a:endParaRPr>
          </a:p>
        </p:txBody>
      </p:sp>
      <p:sp>
        <p:nvSpPr>
          <p:cNvPr id="306" name="Google Shape;306;p35"/>
          <p:cNvSpPr txBox="1">
            <a:spLocks noGrp="1"/>
          </p:cNvSpPr>
          <p:nvPr>
            <p:ph type="title"/>
          </p:nvPr>
        </p:nvSpPr>
        <p:spPr>
          <a:xfrm>
            <a:off x="0" y="0"/>
            <a:ext cx="9144000" cy="506965"/>
          </a:xfrm>
          <a:prstGeom prst="rect">
            <a:avLst/>
          </a:prstGeom>
          <a:solidFill>
            <a:srgbClr val="002060"/>
          </a:solidFill>
        </p:spPr>
        <p:txBody>
          <a:bodyPr spcFirstLastPara="1" wrap="square" lIns="91425" tIns="91425" rIns="91425" bIns="91425" anchor="t" anchorCtr="0">
            <a:noAutofit/>
          </a:bodyPr>
          <a:lstStyle/>
          <a:p>
            <a:pPr algn="ctr"/>
            <a:r>
              <a:rPr lang="fr-FR" b="1" dirty="0">
                <a:solidFill>
                  <a:srgbClr val="002060"/>
                </a:solidFill>
              </a:rPr>
              <a:t>1&amp;&amp;11</a:t>
            </a:r>
            <a:r>
              <a:rPr lang="fr-FR" sz="2800" b="1" dirty="0">
                <a:solidFill>
                  <a:srgbClr val="002060"/>
                </a:solidFill>
              </a:rPr>
              <a:t>&amp;</a:t>
            </a:r>
            <a:r>
              <a:rPr lang="fr-FR" sz="2800" b="1" dirty="0">
                <a:solidFill>
                  <a:srgbClr val="002060"/>
                </a:solidFill>
                <a:latin typeface="Stencil" panose="040409050D0802020404" pitchFamily="82" charset="0"/>
              </a:rPr>
              <a:t>. </a:t>
            </a:r>
            <a:r>
              <a:rPr lang="fr-FR" sz="2800" b="1" dirty="0">
                <a:solidFill>
                  <a:srgbClr val="FFC000"/>
                </a:solidFill>
                <a:latin typeface="Stencil" panose="040409050D0802020404" pitchFamily="82" charset="0"/>
              </a:rPr>
              <a:t>1.Concepts</a:t>
            </a:r>
            <a:r>
              <a:rPr lang="fr-FR" sz="2800" b="1" dirty="0">
                <a:solidFill>
                  <a:srgbClr val="002060"/>
                </a:solidFill>
                <a:latin typeface="Stencil" panose="040409050D0802020404" pitchFamily="82" charset="0"/>
              </a:rPr>
              <a:t> </a:t>
            </a:r>
            <a:r>
              <a:rPr lang="fr-FR" sz="2800" b="1" dirty="0">
                <a:solidFill>
                  <a:srgbClr val="002060"/>
                </a:solidFill>
              </a:rPr>
              <a:t>essentiels</a:t>
            </a:r>
            <a:br>
              <a:rPr lang="fr-FR" b="1" dirty="0">
                <a:solidFill>
                  <a:srgbClr val="002060"/>
                </a:solidFill>
              </a:rPr>
            </a:br>
            <a:endParaRPr dirty="0">
              <a:solidFill>
                <a:srgbClr val="002060"/>
              </a:solidFill>
            </a:endParaRPr>
          </a:p>
        </p:txBody>
      </p:sp>
      <p:sp>
        <p:nvSpPr>
          <p:cNvPr id="302" name="Google Shape;302;p35"/>
          <p:cNvSpPr txBox="1">
            <a:spLocks noGrp="1"/>
          </p:cNvSpPr>
          <p:nvPr>
            <p:ph type="subTitle" idx="2"/>
          </p:nvPr>
        </p:nvSpPr>
        <p:spPr>
          <a:xfrm flipV="1">
            <a:off x="3387150" y="4500076"/>
            <a:ext cx="2369700" cy="643424"/>
          </a:xfrm>
          <a:prstGeom prst="rect">
            <a:avLst/>
          </a:prstGeom>
        </p:spPr>
        <p:txBody>
          <a:bodyPr spcFirstLastPara="1" wrap="square" lIns="91425" tIns="91425" rIns="91425" bIns="91425" anchor="t" anchorCtr="0">
            <a:noAutofit/>
          </a:bodyPr>
          <a:lstStyle/>
          <a:p>
            <a:pPr marL="0" indent="0"/>
            <a:endParaRPr lang="fr-FR" dirty="0"/>
          </a:p>
          <a:p>
            <a:pPr marL="0" lvl="0" indent="0" algn="ctr" rtl="0">
              <a:spcBef>
                <a:spcPts val="0"/>
              </a:spcBef>
              <a:spcAft>
                <a:spcPts val="0"/>
              </a:spcAft>
              <a:buNone/>
            </a:pPr>
            <a:endParaRPr dirty="0"/>
          </a:p>
        </p:txBody>
      </p:sp>
      <p:sp>
        <p:nvSpPr>
          <p:cNvPr id="307" name="Google Shape;307;p35"/>
          <p:cNvSpPr/>
          <p:nvPr/>
        </p:nvSpPr>
        <p:spPr>
          <a:xfrm>
            <a:off x="-2503337" y="1118625"/>
            <a:ext cx="526075" cy="527975"/>
          </a:xfrm>
          <a:custGeom>
            <a:avLst/>
            <a:gdLst/>
            <a:ahLst/>
            <a:cxnLst/>
            <a:rect l="l" t="t" r="r" b="b"/>
            <a:pathLst>
              <a:path w="21043" h="21119" extrusionOk="0">
                <a:moveTo>
                  <a:pt x="21043" y="1"/>
                </a:moveTo>
                <a:lnTo>
                  <a:pt x="21043" y="1"/>
                </a:lnTo>
                <a:cubicBezTo>
                  <a:pt x="20133" y="1025"/>
                  <a:pt x="19488" y="2238"/>
                  <a:pt x="19109" y="3527"/>
                </a:cubicBezTo>
                <a:cubicBezTo>
                  <a:pt x="18654" y="4816"/>
                  <a:pt x="18351" y="6105"/>
                  <a:pt x="17934" y="7394"/>
                </a:cubicBezTo>
                <a:cubicBezTo>
                  <a:pt x="17555" y="8645"/>
                  <a:pt x="17100" y="9896"/>
                  <a:pt x="16531" y="11110"/>
                </a:cubicBezTo>
                <a:cubicBezTo>
                  <a:pt x="15356" y="13498"/>
                  <a:pt x="13422" y="15432"/>
                  <a:pt x="11072" y="16607"/>
                </a:cubicBezTo>
                <a:cubicBezTo>
                  <a:pt x="9858" y="17214"/>
                  <a:pt x="8645" y="17707"/>
                  <a:pt x="7356" y="18086"/>
                </a:cubicBezTo>
                <a:cubicBezTo>
                  <a:pt x="6105" y="18465"/>
                  <a:pt x="4778" y="18806"/>
                  <a:pt x="3527" y="19223"/>
                </a:cubicBezTo>
                <a:cubicBezTo>
                  <a:pt x="2200" y="19602"/>
                  <a:pt x="1024" y="20247"/>
                  <a:pt x="1" y="21119"/>
                </a:cubicBezTo>
                <a:cubicBezTo>
                  <a:pt x="1062" y="20323"/>
                  <a:pt x="2276" y="19754"/>
                  <a:pt x="3565" y="19451"/>
                </a:cubicBezTo>
                <a:cubicBezTo>
                  <a:pt x="4854" y="19072"/>
                  <a:pt x="6181" y="18768"/>
                  <a:pt x="7470" y="18427"/>
                </a:cubicBezTo>
                <a:cubicBezTo>
                  <a:pt x="8759" y="18048"/>
                  <a:pt x="10048" y="17593"/>
                  <a:pt x="11261" y="16986"/>
                </a:cubicBezTo>
                <a:cubicBezTo>
                  <a:pt x="12474" y="16380"/>
                  <a:pt x="13612" y="15583"/>
                  <a:pt x="14560" y="14636"/>
                </a:cubicBezTo>
                <a:cubicBezTo>
                  <a:pt x="16493" y="12626"/>
                  <a:pt x="17593" y="10048"/>
                  <a:pt x="18275" y="7470"/>
                </a:cubicBezTo>
                <a:cubicBezTo>
                  <a:pt x="18616" y="6143"/>
                  <a:pt x="18920" y="4854"/>
                  <a:pt x="19299" y="3565"/>
                </a:cubicBezTo>
                <a:cubicBezTo>
                  <a:pt x="19640" y="2276"/>
                  <a:pt x="20209" y="1062"/>
                  <a:pt x="210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82" name="Google Shape;301;p35"/>
          <p:cNvSpPr txBox="1">
            <a:spLocks noGrp="1"/>
          </p:cNvSpPr>
          <p:nvPr>
            <p:ph type="subTitle" idx="1"/>
          </p:nvPr>
        </p:nvSpPr>
        <p:spPr>
          <a:xfrm>
            <a:off x="714375" y="106362"/>
            <a:ext cx="8429625" cy="1920557"/>
          </a:xfrm>
          <a:prstGeom prst="rect">
            <a:avLst/>
          </a:prstGeom>
        </p:spPr>
        <p:txBody>
          <a:bodyPr spcFirstLastPara="1" wrap="square" lIns="91425" tIns="91425" rIns="91425" bIns="91425" anchor="t" anchorCtr="0">
            <a:noAutofit/>
          </a:bodyPr>
          <a:lstStyle/>
          <a:p>
            <a:pPr algn="ctr"/>
            <a:r>
              <a:rPr lang="fr-FR" sz="2400" b="1" dirty="0">
                <a:solidFill>
                  <a:srgbClr val="FF0000"/>
                </a:solidFill>
                <a:latin typeface="Arial Black" panose="020B0A04020102020204" pitchFamily="34" charset="0"/>
              </a:rPr>
              <a:t>1.3 L’estimateur de Hill</a:t>
            </a:r>
          </a:p>
          <a:p>
            <a:pPr algn="ctr"/>
            <a:r>
              <a:rPr lang="fr-FR" sz="2400" dirty="0">
                <a:solidFill>
                  <a:schemeClr val="bg1">
                    <a:lumMod val="10000"/>
                  </a:schemeClr>
                </a:solidFill>
                <a:latin typeface="Arial Black" panose="020B0A04020102020204" pitchFamily="34" charset="0"/>
              </a:rPr>
              <a:t>L’estimateur de Hill permet d’évaluer la lourdeur de la queue d'une distribution à partir des sinistres les plus élevés. Sa formule est donnée par:</a:t>
            </a:r>
          </a:p>
          <a:p>
            <a:pPr algn="ctr"/>
            <a:endParaRPr lang="fr-FR" sz="2400" dirty="0">
              <a:solidFill>
                <a:schemeClr val="tx1">
                  <a:lumMod val="75000"/>
                </a:schemeClr>
              </a:solidFill>
            </a:endParaRPr>
          </a:p>
        </p:txBody>
      </p:sp>
      <p:sp>
        <p:nvSpPr>
          <p:cNvPr id="325" name="Google Shape;325;p36"/>
          <p:cNvSpPr txBox="1">
            <a:spLocks noGrp="1"/>
          </p:cNvSpPr>
          <p:nvPr>
            <p:ph type="subTitle" idx="3"/>
          </p:nvPr>
        </p:nvSpPr>
        <p:spPr>
          <a:xfrm>
            <a:off x="0" y="2758440"/>
            <a:ext cx="9029700" cy="2270760"/>
          </a:xfrm>
          <a:prstGeom prst="rect">
            <a:avLst/>
          </a:prstGeom>
        </p:spPr>
        <p:txBody>
          <a:bodyPr spcFirstLastPara="1" wrap="square" lIns="91425" tIns="91425" rIns="91425" bIns="91425" anchor="t" anchorCtr="0">
            <a:noAutofit/>
          </a:bodyPr>
          <a:lstStyle/>
          <a:p>
            <a:r>
              <a:rPr lang="fr-FR" sz="2400" b="1" dirty="0">
                <a:solidFill>
                  <a:schemeClr val="tx1">
                    <a:lumMod val="50000"/>
                  </a:schemeClr>
                </a:solidFill>
                <a:latin typeface="Arial Black" panose="020B0A04020102020204" pitchFamily="34" charset="0"/>
              </a:rPr>
              <a:t>Ou:</a:t>
            </a:r>
          </a:p>
          <a:p>
            <a:r>
              <a:rPr lang="fr-FR" sz="2400" dirty="0">
                <a:solidFill>
                  <a:schemeClr val="bg1">
                    <a:lumMod val="10000"/>
                  </a:schemeClr>
                </a:solidFill>
                <a:latin typeface="Arial Black" panose="020B0A04020102020204" pitchFamily="34" charset="0"/>
              </a:rPr>
              <a:t>- k est un paramètre définissant le nombre des plus grandes valeurs à prendre en compte,</a:t>
            </a:r>
          </a:p>
          <a:p>
            <a:pPr algn="ctr"/>
            <a:r>
              <a:rPr lang="fr-FR" sz="2400" dirty="0">
                <a:solidFill>
                  <a:schemeClr val="bg1">
                    <a:lumMod val="10000"/>
                  </a:schemeClr>
                </a:solidFill>
                <a:latin typeface="Arial Black" panose="020B0A04020102020204" pitchFamily="34" charset="0"/>
              </a:rPr>
              <a:t>n est la taille de l'échantillon,</a:t>
            </a:r>
          </a:p>
          <a:p>
            <a:pPr algn="ctr"/>
            <a:r>
              <a:rPr lang="fr-FR" sz="2400" dirty="0">
                <a:solidFill>
                  <a:schemeClr val="bg1">
                    <a:lumMod val="10000"/>
                  </a:schemeClr>
                </a:solidFill>
                <a:latin typeface="Arial Black" panose="020B0A04020102020204" pitchFamily="34" charset="0"/>
              </a:rPr>
              <a:t>-X(i)​ représente les i-</a:t>
            </a:r>
            <a:r>
              <a:rPr lang="fr-FR" sz="2400" dirty="0" err="1">
                <a:solidFill>
                  <a:schemeClr val="bg1">
                    <a:lumMod val="10000"/>
                  </a:schemeClr>
                </a:solidFill>
                <a:latin typeface="Arial Black" panose="020B0A04020102020204" pitchFamily="34" charset="0"/>
              </a:rPr>
              <a:t>èmes</a:t>
            </a:r>
            <a:r>
              <a:rPr lang="fr-FR" sz="2400" dirty="0">
                <a:solidFill>
                  <a:schemeClr val="bg1">
                    <a:lumMod val="10000"/>
                  </a:schemeClr>
                </a:solidFill>
                <a:latin typeface="Arial Black" panose="020B0A04020102020204" pitchFamily="34" charset="0"/>
              </a:rPr>
              <a:t> valeurs les plus grandes de l'échantillon.</a:t>
            </a:r>
          </a:p>
          <a:p>
            <a:pPr marL="0" lvl="0" indent="0" algn="r" rtl="0">
              <a:spcBef>
                <a:spcPts val="0"/>
              </a:spcBef>
              <a:spcAft>
                <a:spcPts val="0"/>
              </a:spcAft>
              <a:buNone/>
            </a:pPr>
            <a:endParaRPr sz="2400" dirty="0"/>
          </a:p>
        </p:txBody>
      </p:sp>
      <p:sp>
        <p:nvSpPr>
          <p:cNvPr id="330" name="Google Shape;330;p36"/>
          <p:cNvSpPr/>
          <p:nvPr/>
        </p:nvSpPr>
        <p:spPr>
          <a:xfrm>
            <a:off x="-2503337" y="1118625"/>
            <a:ext cx="526075" cy="527975"/>
          </a:xfrm>
          <a:custGeom>
            <a:avLst/>
            <a:gdLst/>
            <a:ahLst/>
            <a:cxnLst/>
            <a:rect l="l" t="t" r="r" b="b"/>
            <a:pathLst>
              <a:path w="21043" h="21119" extrusionOk="0">
                <a:moveTo>
                  <a:pt x="21043" y="1"/>
                </a:moveTo>
                <a:lnTo>
                  <a:pt x="21043" y="1"/>
                </a:lnTo>
                <a:cubicBezTo>
                  <a:pt x="20133" y="1025"/>
                  <a:pt x="19488" y="2238"/>
                  <a:pt x="19109" y="3527"/>
                </a:cubicBezTo>
                <a:cubicBezTo>
                  <a:pt x="18654" y="4816"/>
                  <a:pt x="18351" y="6105"/>
                  <a:pt x="17934" y="7394"/>
                </a:cubicBezTo>
                <a:cubicBezTo>
                  <a:pt x="17555" y="8645"/>
                  <a:pt x="17100" y="9896"/>
                  <a:pt x="16531" y="11110"/>
                </a:cubicBezTo>
                <a:cubicBezTo>
                  <a:pt x="15356" y="13498"/>
                  <a:pt x="13422" y="15432"/>
                  <a:pt x="11072" y="16607"/>
                </a:cubicBezTo>
                <a:cubicBezTo>
                  <a:pt x="9858" y="17214"/>
                  <a:pt x="8645" y="17707"/>
                  <a:pt x="7356" y="18086"/>
                </a:cubicBezTo>
                <a:cubicBezTo>
                  <a:pt x="6105" y="18465"/>
                  <a:pt x="4778" y="18806"/>
                  <a:pt x="3527" y="19223"/>
                </a:cubicBezTo>
                <a:cubicBezTo>
                  <a:pt x="2200" y="19602"/>
                  <a:pt x="1024" y="20247"/>
                  <a:pt x="1" y="21119"/>
                </a:cubicBezTo>
                <a:cubicBezTo>
                  <a:pt x="1062" y="20323"/>
                  <a:pt x="2276" y="19754"/>
                  <a:pt x="3565" y="19451"/>
                </a:cubicBezTo>
                <a:cubicBezTo>
                  <a:pt x="4854" y="19072"/>
                  <a:pt x="6181" y="18768"/>
                  <a:pt x="7470" y="18427"/>
                </a:cubicBezTo>
                <a:cubicBezTo>
                  <a:pt x="8759" y="18048"/>
                  <a:pt x="10048" y="17593"/>
                  <a:pt x="11261" y="16986"/>
                </a:cubicBezTo>
                <a:cubicBezTo>
                  <a:pt x="12474" y="16380"/>
                  <a:pt x="13612" y="15583"/>
                  <a:pt x="14560" y="14636"/>
                </a:cubicBezTo>
                <a:cubicBezTo>
                  <a:pt x="16493" y="12626"/>
                  <a:pt x="17593" y="10048"/>
                  <a:pt x="18275" y="7470"/>
                </a:cubicBezTo>
                <a:cubicBezTo>
                  <a:pt x="18616" y="6143"/>
                  <a:pt x="18920" y="4854"/>
                  <a:pt x="19299" y="3565"/>
                </a:cubicBezTo>
                <a:cubicBezTo>
                  <a:pt x="19640" y="2276"/>
                  <a:pt x="20209" y="1062"/>
                  <a:pt x="210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Agency FB" panose="020B0503020202020204" pitchFamily="34" charset="0"/>
            </a:endParaRPr>
          </a:p>
        </p:txBody>
      </p:sp>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5912" y="1646600"/>
            <a:ext cx="7298088" cy="15460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37"/>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Arial Black" panose="020B0A04020102020204" pitchFamily="34" charset="0"/>
              </a:rPr>
              <a:t>2.METHODOOLOGIE</a:t>
            </a:r>
            <a:endParaRPr dirty="0">
              <a:latin typeface="Arial Black" panose="020B0A04020102020204" pitchFamily="34" charset="0"/>
            </a:endParaRPr>
          </a:p>
        </p:txBody>
      </p:sp>
      <p:sp>
        <p:nvSpPr>
          <p:cNvPr id="420" name="Google Shape;420;p37"/>
          <p:cNvSpPr txBox="1"/>
          <p:nvPr/>
        </p:nvSpPr>
        <p:spPr>
          <a:xfrm>
            <a:off x="1" y="1097280"/>
            <a:ext cx="9144000" cy="4046220"/>
          </a:xfrm>
          <a:prstGeom prst="rect">
            <a:avLst/>
          </a:prstGeom>
          <a:noFill/>
          <a:ln>
            <a:noFill/>
          </a:ln>
        </p:spPr>
        <p:txBody>
          <a:bodyPr spcFirstLastPara="1" wrap="square" lIns="91425" tIns="91425" rIns="91425" bIns="91425" anchor="t" anchorCtr="0">
            <a:noAutofit/>
          </a:bodyPr>
          <a:lstStyle/>
          <a:p>
            <a:endParaRPr lang="fr-FR" b="1" dirty="0">
              <a:latin typeface="Agency FB" panose="020B0503020202020204" pitchFamily="34" charset="0"/>
            </a:endParaRPr>
          </a:p>
          <a:p>
            <a:pPr algn="ctr"/>
            <a:r>
              <a:rPr lang="fr-FR" sz="2400" b="1" dirty="0">
                <a:solidFill>
                  <a:srgbClr val="FF0000"/>
                </a:solidFill>
                <a:latin typeface="Arial Black" panose="020B0A04020102020204" pitchFamily="34" charset="0"/>
              </a:rPr>
              <a:t>2.1 Les étapes de la détermination du seuil</a:t>
            </a:r>
          </a:p>
          <a:p>
            <a:pPr algn="ctr"/>
            <a:r>
              <a:rPr lang="fr-FR" sz="2400" dirty="0">
                <a:latin typeface="Arial Black" panose="020B0A04020102020204" pitchFamily="34" charset="0"/>
              </a:rPr>
              <a:t>-Tri des sinistres par ordre décroissant.</a:t>
            </a:r>
          </a:p>
          <a:p>
            <a:pPr algn="ctr"/>
            <a:r>
              <a:rPr lang="fr-FR" sz="2400" dirty="0">
                <a:latin typeface="Arial Black" panose="020B0A04020102020204" pitchFamily="34" charset="0"/>
              </a:rPr>
              <a:t>-Calcul de l’estimateur de Hill pour différentes valeurs </a:t>
            </a:r>
          </a:p>
          <a:p>
            <a:pPr algn="ctr"/>
            <a:r>
              <a:rPr lang="fr-FR" sz="2400" dirty="0">
                <a:latin typeface="Arial Black" panose="020B0A04020102020204" pitchFamily="34" charset="0"/>
              </a:rPr>
              <a:t>-Identification de la zone de stabilisation de pour déterminer le seuil optimal.</a:t>
            </a:r>
          </a:p>
          <a:p>
            <a:pPr algn="ctr"/>
            <a:r>
              <a:rPr lang="fr-FR" sz="2400" b="1" dirty="0">
                <a:solidFill>
                  <a:srgbClr val="FF0000"/>
                </a:solidFill>
                <a:latin typeface="Arial Black" panose="020B0A04020102020204" pitchFamily="34" charset="0"/>
              </a:rPr>
              <a:t>2.2 Visualisation des données et du graphique de Hill</a:t>
            </a:r>
          </a:p>
          <a:p>
            <a:pPr algn="ctr"/>
            <a:r>
              <a:rPr lang="fr-FR" sz="2400" dirty="0">
                <a:latin typeface="Arial Black" panose="020B0A04020102020204" pitchFamily="34" charset="0"/>
              </a:rPr>
              <a:t>Un graphique de Hill est tracé avec en fonction de .</a:t>
            </a:r>
          </a:p>
          <a:p>
            <a:pPr algn="ctr"/>
            <a:r>
              <a:rPr lang="fr-FR" sz="2400" dirty="0">
                <a:latin typeface="Arial Black" panose="020B0A04020102020204" pitchFamily="34" charset="0"/>
              </a:rPr>
              <a:t>La partie stable de la courbe correspond à la zone où les sinistres deviennent significativement graves</a:t>
            </a:r>
            <a:r>
              <a:rPr lang="fr-FR" dirty="0">
                <a:latin typeface="Arial Black" panose="020B0A04020102020204" pitchFamily="34" charset="0"/>
              </a:rPr>
              <a:t>.</a:t>
            </a:r>
            <a:r>
              <a:rPr lang="fr-FR" b="1" dirty="0">
                <a:latin typeface="Arial Black" panose="020B0A04020102020204" pitchFamily="34" charset="0"/>
              </a:rPr>
              <a:t> </a:t>
            </a:r>
            <a:endParaRPr lang="fr-FR" dirty="0">
              <a:latin typeface="Arial Black" panose="020B0A040201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9" name="Sous-titre 8"/>
          <p:cNvSpPr>
            <a:spLocks noGrp="1"/>
          </p:cNvSpPr>
          <p:nvPr>
            <p:ph type="subTitle" idx="1"/>
          </p:nvPr>
        </p:nvSpPr>
        <p:spPr>
          <a:xfrm>
            <a:off x="0" y="1088020"/>
            <a:ext cx="9144000" cy="4055480"/>
          </a:xfrm>
        </p:spPr>
        <p:txBody>
          <a:bodyPr/>
          <a:lstStyle/>
          <a:p>
            <a:r>
              <a:rPr lang="fr-FR" sz="2400" dirty="0">
                <a:solidFill>
                  <a:schemeClr val="bg1">
                    <a:lumMod val="10000"/>
                  </a:schemeClr>
                </a:solidFill>
                <a:latin typeface="Arial Black" panose="020B0A04020102020204" pitchFamily="34" charset="0"/>
              </a:rPr>
              <a:t>Pour mieux visualiser la séparation entre sinistres attritionnels et sinistres graves, nous utilisons l'estimateur de Hill sur un ensemble de données triées par ordre décroissant.</a:t>
            </a:r>
          </a:p>
          <a:p>
            <a:r>
              <a:rPr lang="fr-FR" sz="2400" b="1" dirty="0">
                <a:solidFill>
                  <a:schemeClr val="bg1">
                    <a:lumMod val="10000"/>
                  </a:schemeClr>
                </a:solidFill>
                <a:latin typeface="Arial Black" panose="020B0A04020102020204" pitchFamily="34" charset="0"/>
              </a:rPr>
              <a:t>Tracé de la courbe de Hill</a:t>
            </a:r>
            <a:r>
              <a:rPr lang="fr-FR" sz="2400" dirty="0">
                <a:solidFill>
                  <a:schemeClr val="bg1">
                    <a:lumMod val="10000"/>
                  </a:schemeClr>
                </a:solidFill>
                <a:latin typeface="Arial Black" panose="020B0A04020102020204" pitchFamily="34" charset="0"/>
              </a:rPr>
              <a:t> : La courbe est généralement décroissante, avec une stabilisation permettant d'identifier le seuil.</a:t>
            </a:r>
          </a:p>
          <a:p>
            <a:r>
              <a:rPr lang="fr-FR" sz="2400" b="1" dirty="0">
                <a:solidFill>
                  <a:schemeClr val="bg1">
                    <a:lumMod val="10000"/>
                  </a:schemeClr>
                </a:solidFill>
                <a:latin typeface="Arial Black" panose="020B0A04020102020204" pitchFamily="34" charset="0"/>
              </a:rPr>
              <a:t>Interprétation</a:t>
            </a:r>
            <a:r>
              <a:rPr lang="fr-FR" sz="2400" dirty="0">
                <a:solidFill>
                  <a:schemeClr val="bg1">
                    <a:lumMod val="10000"/>
                  </a:schemeClr>
                </a:solidFill>
                <a:latin typeface="Arial Black" panose="020B0A04020102020204" pitchFamily="34" charset="0"/>
              </a:rPr>
              <a:t> : La valeur du seuil correspond à l'endroit où la courbe devient relativement stable avant de redescendre.</a:t>
            </a:r>
          </a:p>
        </p:txBody>
      </p:sp>
      <p:sp>
        <p:nvSpPr>
          <p:cNvPr id="497" name="Google Shape;497;p39"/>
          <p:cNvSpPr txBox="1">
            <a:spLocks noGrp="1"/>
          </p:cNvSpPr>
          <p:nvPr>
            <p:ph type="title"/>
          </p:nvPr>
        </p:nvSpPr>
        <p:spPr>
          <a:xfrm>
            <a:off x="2063663" y="139030"/>
            <a:ext cx="4658869" cy="809237"/>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fr-FR" dirty="0">
                <a:solidFill>
                  <a:srgbClr val="FF0000"/>
                </a:solidFill>
                <a:latin typeface="Arial Black" panose="020B0A04020102020204" pitchFamily="34" charset="0"/>
              </a:rPr>
              <a:t>PRESENTATION GRAPHIQUE</a:t>
            </a:r>
            <a:endParaRPr dirty="0">
              <a:solidFill>
                <a:srgbClr val="FF0000"/>
              </a:solidFill>
              <a:latin typeface="Arial Black" panose="020B0A040201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9" name="Sous-titre 8"/>
          <p:cNvSpPr>
            <a:spLocks noGrp="1"/>
          </p:cNvSpPr>
          <p:nvPr>
            <p:ph type="subTitle" idx="1"/>
          </p:nvPr>
        </p:nvSpPr>
        <p:spPr>
          <a:xfrm>
            <a:off x="0" y="0"/>
            <a:ext cx="9144000" cy="863600"/>
          </a:xfrm>
        </p:spPr>
        <p:txBody>
          <a:bodyPr/>
          <a:lstStyle/>
          <a:p>
            <a:pPr algn="ctr"/>
            <a:r>
              <a:rPr lang="fr-FR" sz="2400" dirty="0">
                <a:solidFill>
                  <a:srgbClr val="FF0000"/>
                </a:solidFill>
                <a:latin typeface="Arial Black" panose="020B0A04020102020204" pitchFamily="34" charset="0"/>
              </a:rPr>
              <a:t>Cas pratique</a:t>
            </a:r>
          </a:p>
        </p:txBody>
      </p:sp>
      <p:sp>
        <p:nvSpPr>
          <p:cNvPr id="497" name="Google Shape;497;p39"/>
          <p:cNvSpPr txBox="1">
            <a:spLocks noGrp="1"/>
          </p:cNvSpPr>
          <p:nvPr>
            <p:ph type="title"/>
          </p:nvPr>
        </p:nvSpPr>
        <p:spPr>
          <a:xfrm>
            <a:off x="0" y="863600"/>
            <a:ext cx="9144000" cy="4279900"/>
          </a:xfrm>
          <a:prstGeom prst="rect">
            <a:avLst/>
          </a:prstGeom>
        </p:spPr>
        <p:txBody>
          <a:bodyPr spcFirstLastPara="1" wrap="square" lIns="91425" tIns="91425" rIns="91425" bIns="91425" anchor="t" anchorCtr="0">
            <a:noAutofit/>
          </a:bodyPr>
          <a:lstStyle/>
          <a:p>
            <a:pPr latinLnBrk="1"/>
            <a:r>
              <a:rPr lang="en-US" dirty="0"/>
              <a:t>##    Montant-Sinistre</a:t>
            </a:r>
            <a:br>
              <a:rPr lang="en-US" dirty="0"/>
            </a:br>
            <a:r>
              <a:rPr lang="en-US" dirty="0"/>
              <a:t>[1 743.9934;	2559.4555; 3544.7731; 4 653.1146; 5763.7942; </a:t>
            </a:r>
            <a:br>
              <a:rPr lang="en-US" dirty="0"/>
            </a:br>
            <a:r>
              <a:rPr lang="en-US" dirty="0"/>
              <a:t>6 600.6269 7 1866.0928; 8 734.7195; 9 622.1502; 10 590.2420]</a:t>
            </a:r>
            <a:br>
              <a:rPr lang="en-US" dirty="0"/>
            </a:br>
            <a:r>
              <a:rPr lang="en-US" b="1" dirty="0"/>
              <a:t>library</a:t>
            </a:r>
            <a:r>
              <a:rPr lang="en-US" dirty="0"/>
              <a:t>(</a:t>
            </a:r>
            <a:r>
              <a:rPr lang="en-US" dirty="0" err="1"/>
              <a:t>evir</a:t>
            </a:r>
            <a:r>
              <a:rPr lang="en-US" dirty="0"/>
              <a:t>)</a:t>
            </a:r>
            <a:br>
              <a:rPr lang="en-US" dirty="0"/>
            </a:br>
            <a:r>
              <a:rPr lang="en-US" i="1" dirty="0"/>
              <a:t># Trier les montants de sinistres en ordre décroissant</a:t>
            </a:r>
            <a:br>
              <a:rPr lang="en-US" dirty="0"/>
            </a:br>
            <a:r>
              <a:rPr lang="en-US" dirty="0"/>
              <a:t>sinistres-sorted &lt;- </a:t>
            </a:r>
            <a:r>
              <a:rPr lang="en-US" b="1" dirty="0"/>
              <a:t>sort</a:t>
            </a:r>
            <a:r>
              <a:rPr lang="en-US" dirty="0"/>
              <a:t>(</a:t>
            </a:r>
            <a:r>
              <a:rPr lang="en-US" dirty="0" err="1"/>
              <a:t>sinistres-nouveaux</a:t>
            </a:r>
            <a:r>
              <a:rPr lang="en-US" b="1" dirty="0" err="1"/>
              <a:t>$</a:t>
            </a:r>
            <a:r>
              <a:rPr lang="en-US" dirty="0" err="1"/>
              <a:t>Montant-Sinistre</a:t>
            </a:r>
            <a:r>
              <a:rPr lang="en-US" dirty="0"/>
              <a:t>, decreasing = TRUE)</a:t>
            </a:r>
            <a:br>
              <a:rPr lang="en-US" dirty="0"/>
            </a:br>
            <a:r>
              <a:rPr lang="en-US" i="1" dirty="0"/>
              <a:t># Vérifier les 10 premiers sinistres triés</a:t>
            </a:r>
            <a:br>
              <a:rPr lang="en-US" dirty="0"/>
            </a:br>
            <a:r>
              <a:rPr lang="en-US" b="1" dirty="0"/>
              <a:t>print</a:t>
            </a:r>
            <a:r>
              <a:rPr lang="en-US" dirty="0"/>
              <a:t>(</a:t>
            </a:r>
            <a:r>
              <a:rPr lang="en-US" b="1" dirty="0"/>
              <a:t>head</a:t>
            </a:r>
            <a:r>
              <a:rPr lang="en-US" dirty="0"/>
              <a:t>(sinistres-sorted, 10))</a:t>
            </a:r>
            <a:br>
              <a:rPr lang="fr-FR" dirty="0"/>
            </a:br>
            <a:r>
              <a:rPr lang="en-US" dirty="0"/>
              <a:t>##  [1] 4870.968 3172.794 2997.437 2617.943 2250.577 2205.317 2204.254 2197.149</a:t>
            </a:r>
            <a:br>
              <a:rPr lang="en-US" dirty="0"/>
            </a:br>
            <a:r>
              <a:rPr lang="en-US" dirty="0"/>
              <a:t>##  [9] 2145.947 2053.267</a:t>
            </a:r>
            <a:br>
              <a:rPr lang="fr-FR" dirty="0"/>
            </a:br>
            <a:endParaRPr lang="fr-FR" dirty="0"/>
          </a:p>
        </p:txBody>
      </p:sp>
    </p:spTree>
    <p:extLst>
      <p:ext uri="{BB962C8B-B14F-4D97-AF65-F5344CB8AC3E}">
        <p14:creationId xmlns:p14="http://schemas.microsoft.com/office/powerpoint/2010/main" val="2255865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9" name="Sous-titre 8"/>
          <p:cNvSpPr>
            <a:spLocks noGrp="1"/>
          </p:cNvSpPr>
          <p:nvPr>
            <p:ph type="subTitle" idx="1"/>
          </p:nvPr>
        </p:nvSpPr>
        <p:spPr>
          <a:xfrm>
            <a:off x="0" y="0"/>
            <a:ext cx="9144000" cy="863600"/>
          </a:xfrm>
        </p:spPr>
        <p:txBody>
          <a:bodyPr/>
          <a:lstStyle/>
          <a:p>
            <a:r>
              <a:rPr lang="fr-FR" sz="2400" dirty="0" err="1">
                <a:solidFill>
                  <a:srgbClr val="FF0000"/>
                </a:solidFill>
                <a:latin typeface="Arial Black" panose="020B0A04020102020204" pitchFamily="34" charset="0"/>
              </a:rPr>
              <a:t>Représention</a:t>
            </a:r>
            <a:r>
              <a:rPr lang="fr-FR" sz="2400" dirty="0">
                <a:solidFill>
                  <a:srgbClr val="FF0000"/>
                </a:solidFill>
                <a:latin typeface="Arial Black" panose="020B0A04020102020204" pitchFamily="34" charset="0"/>
              </a:rPr>
              <a:t> graphique</a:t>
            </a:r>
          </a:p>
        </p:txBody>
      </p:sp>
      <p:sp>
        <p:nvSpPr>
          <p:cNvPr id="497" name="Google Shape;497;p39"/>
          <p:cNvSpPr txBox="1">
            <a:spLocks noGrp="1"/>
          </p:cNvSpPr>
          <p:nvPr>
            <p:ph type="title"/>
          </p:nvPr>
        </p:nvSpPr>
        <p:spPr>
          <a:xfrm>
            <a:off x="30996" y="863600"/>
            <a:ext cx="9113003" cy="4279900"/>
          </a:xfrm>
          <a:prstGeom prst="rect">
            <a:avLst/>
          </a:prstGeom>
        </p:spPr>
        <p:txBody>
          <a:bodyPr spcFirstLastPara="1" wrap="square" lIns="91425" tIns="91425" rIns="91425" bIns="91425" anchor="t" anchorCtr="0">
            <a:noAutofit/>
          </a:bodyPr>
          <a:lstStyle/>
          <a:p>
            <a:pPr latinLnBrk="1"/>
            <a:endParaRPr lang="fr-FR" dirty="0"/>
          </a:p>
        </p:txBody>
      </p:sp>
      <p:pic>
        <p:nvPicPr>
          <p:cNvPr id="4" name="Picture"/>
          <p:cNvPicPr/>
          <p:nvPr/>
        </p:nvPicPr>
        <p:blipFill>
          <a:blip r:embed="rId3"/>
          <a:stretch>
            <a:fillRect/>
          </a:stretch>
        </p:blipFill>
        <p:spPr bwMode="auto">
          <a:xfrm>
            <a:off x="0" y="863600"/>
            <a:ext cx="4262034" cy="3686659"/>
          </a:xfrm>
          <a:prstGeom prst="rect">
            <a:avLst/>
          </a:prstGeom>
          <a:noFill/>
          <a:ln w="9525">
            <a:noFill/>
            <a:headEnd/>
            <a:tailEnd/>
          </a:ln>
        </p:spPr>
      </p:pic>
      <p:pic>
        <p:nvPicPr>
          <p:cNvPr id="5" name="Picture"/>
          <p:cNvPicPr/>
          <p:nvPr/>
        </p:nvPicPr>
        <p:blipFill>
          <a:blip r:embed="rId4"/>
          <a:stretch>
            <a:fillRect/>
          </a:stretch>
        </p:blipFill>
        <p:spPr bwMode="auto">
          <a:xfrm>
            <a:off x="4479010" y="863600"/>
            <a:ext cx="4664989" cy="3803973"/>
          </a:xfrm>
          <a:prstGeom prst="rect">
            <a:avLst/>
          </a:prstGeom>
          <a:noFill/>
          <a:ln w="9525">
            <a:noFill/>
            <a:headEnd/>
            <a:tailEnd/>
          </a:ln>
        </p:spPr>
      </p:pic>
    </p:spTree>
    <p:extLst>
      <p:ext uri="{BB962C8B-B14F-4D97-AF65-F5344CB8AC3E}">
        <p14:creationId xmlns:p14="http://schemas.microsoft.com/office/powerpoint/2010/main" val="1269397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9" name="Sous-titre 8"/>
          <p:cNvSpPr>
            <a:spLocks noGrp="1"/>
          </p:cNvSpPr>
          <p:nvPr>
            <p:ph type="subTitle" idx="1"/>
          </p:nvPr>
        </p:nvSpPr>
        <p:spPr>
          <a:xfrm>
            <a:off x="0" y="0"/>
            <a:ext cx="9144000" cy="863600"/>
          </a:xfrm>
        </p:spPr>
        <p:txBody>
          <a:bodyPr/>
          <a:lstStyle/>
          <a:p>
            <a:pPr algn="ctr"/>
            <a:r>
              <a:rPr lang="fr-FR" sz="2800" dirty="0">
                <a:solidFill>
                  <a:srgbClr val="FF0000"/>
                </a:solidFill>
                <a:latin typeface="Arial Black" panose="020B0A04020102020204" pitchFamily="34" charset="0"/>
              </a:rPr>
              <a:t>INTERPRETATION DU GRAPHE DE HILL</a:t>
            </a:r>
          </a:p>
        </p:txBody>
      </p:sp>
      <p:sp>
        <p:nvSpPr>
          <p:cNvPr id="497" name="Google Shape;497;p39"/>
          <p:cNvSpPr txBox="1">
            <a:spLocks noGrp="1"/>
          </p:cNvSpPr>
          <p:nvPr>
            <p:ph type="title"/>
          </p:nvPr>
        </p:nvSpPr>
        <p:spPr>
          <a:xfrm>
            <a:off x="0" y="863600"/>
            <a:ext cx="9144000" cy="4279900"/>
          </a:xfrm>
          <a:prstGeom prst="rect">
            <a:avLst/>
          </a:prstGeom>
        </p:spPr>
        <p:txBody>
          <a:bodyPr spcFirstLastPara="1" wrap="square" lIns="91425" tIns="91425" rIns="91425" bIns="91425" anchor="t" anchorCtr="0">
            <a:noAutofit/>
          </a:bodyPr>
          <a:lstStyle/>
          <a:p>
            <a:r>
              <a:rPr lang="fr-FR" sz="2000" dirty="0">
                <a:latin typeface="Arial Black" panose="020B0A04020102020204" pitchFamily="34" charset="0"/>
              </a:rPr>
              <a:t>- le </a:t>
            </a:r>
            <a:r>
              <a:rPr lang="fr-FR" sz="2000" b="1" dirty="0">
                <a:latin typeface="Arial Black" panose="020B0A04020102020204" pitchFamily="34" charset="0"/>
              </a:rPr>
              <a:t>graphe de Hill</a:t>
            </a:r>
            <a:r>
              <a:rPr lang="fr-FR" sz="2000" dirty="0">
                <a:latin typeface="Arial Black" panose="020B0A04020102020204" pitchFamily="34" charset="0"/>
              </a:rPr>
              <a:t> représente l'évolution de l'estimateur de Hill (ξ(k) en fonction du nombre de sinistres envisagé (k).</a:t>
            </a:r>
            <a:br>
              <a:rPr lang="fr-FR" sz="2000" dirty="0">
                <a:latin typeface="Arial Black" panose="020B0A04020102020204" pitchFamily="34" charset="0"/>
              </a:rPr>
            </a:br>
            <a:r>
              <a:rPr lang="fr-FR" sz="2000" b="1" dirty="0">
                <a:latin typeface="Arial Black" panose="020B0A04020102020204" pitchFamily="34" charset="0"/>
              </a:rPr>
              <a:t>Début de la courbe (k petit)</a:t>
            </a:r>
            <a:br>
              <a:rPr lang="fr-FR" sz="2000" dirty="0">
                <a:latin typeface="Arial Black" panose="020B0A04020102020204" pitchFamily="34" charset="0"/>
              </a:rPr>
            </a:br>
            <a:r>
              <a:rPr lang="fr-FR" sz="2000" dirty="0">
                <a:latin typeface="Arial Black" panose="020B0A04020102020204" pitchFamily="34" charset="0"/>
              </a:rPr>
              <a:t>- Les premières valeurs peuvent </a:t>
            </a:r>
            <a:r>
              <a:rPr lang="fr-FR" sz="2000" b="1" dirty="0">
                <a:latin typeface="Arial Black" panose="020B0A04020102020204" pitchFamily="34" charset="0"/>
              </a:rPr>
              <a:t>fluctuer fortement</a:t>
            </a:r>
            <a:r>
              <a:rPr lang="fr-FR" sz="2000" dirty="0">
                <a:latin typeface="Arial Black" panose="020B0A04020102020204" pitchFamily="34" charset="0"/>
              </a:rPr>
              <a:t> , car elles dépendent des plus gros sinistres.</a:t>
            </a:r>
            <a:br>
              <a:rPr lang="fr-FR" sz="2000" dirty="0">
                <a:latin typeface="Arial Black" panose="020B0A04020102020204" pitchFamily="34" charset="0"/>
              </a:rPr>
            </a:br>
            <a:r>
              <a:rPr lang="fr-FR" sz="2000" dirty="0">
                <a:latin typeface="Arial Black" panose="020B0A04020102020204" pitchFamily="34" charset="0"/>
              </a:rPr>
              <a:t>Cela signifie qu'il y a une variabilité élevée dans les valeurs extrêmes.</a:t>
            </a:r>
            <a:br>
              <a:rPr lang="fr-FR" sz="2000" dirty="0">
                <a:latin typeface="Arial Black" panose="020B0A04020102020204" pitchFamily="34" charset="0"/>
              </a:rPr>
            </a:br>
            <a:r>
              <a:rPr lang="fr-FR" sz="2000" dirty="0">
                <a:latin typeface="Arial Black" panose="020B0A04020102020204" pitchFamily="34" charset="0"/>
              </a:rPr>
              <a:t>- </a:t>
            </a:r>
            <a:r>
              <a:rPr lang="fr-FR" sz="2000" b="1" dirty="0">
                <a:latin typeface="Arial Black" panose="020B0A04020102020204" pitchFamily="34" charset="0"/>
              </a:rPr>
              <a:t>Zone de stabilisation</a:t>
            </a:r>
            <a:br>
              <a:rPr lang="fr-FR" sz="2000" dirty="0">
                <a:latin typeface="Arial Black" panose="020B0A04020102020204" pitchFamily="34" charset="0"/>
              </a:rPr>
            </a:br>
            <a:r>
              <a:rPr lang="fr-FR" sz="2000" dirty="0">
                <a:latin typeface="Arial Black" panose="020B0A04020102020204" pitchFamily="34" charset="0"/>
              </a:rPr>
              <a:t>-À partir d'un certain k, la courbe devient </a:t>
            </a:r>
            <a:r>
              <a:rPr lang="fr-FR" sz="2000" b="1" dirty="0">
                <a:latin typeface="Arial Black" panose="020B0A04020102020204" pitchFamily="34" charset="0"/>
              </a:rPr>
              <a:t>relativement stable</a:t>
            </a:r>
            <a:r>
              <a:rPr lang="fr-FR" sz="2000" dirty="0">
                <a:latin typeface="Arial Black" panose="020B0A04020102020204" pitchFamily="34" charset="0"/>
              </a:rPr>
              <a:t> </a:t>
            </a:r>
            <a:br>
              <a:rPr lang="fr-FR" sz="2000" dirty="0">
                <a:latin typeface="Arial Black" panose="020B0A04020102020204" pitchFamily="34" charset="0"/>
              </a:rPr>
            </a:br>
            <a:r>
              <a:rPr lang="fr-FR" sz="2000" dirty="0">
                <a:latin typeface="Arial Black" panose="020B0A04020102020204" pitchFamily="34" charset="0"/>
              </a:rPr>
              <a:t>Cette </a:t>
            </a:r>
            <a:r>
              <a:rPr lang="fr-FR" sz="2000" b="1" dirty="0">
                <a:latin typeface="Arial Black" panose="020B0A04020102020204" pitchFamily="34" charset="0"/>
              </a:rPr>
              <a:t>stabilisation</a:t>
            </a:r>
            <a:r>
              <a:rPr lang="fr-FR" sz="2000" dirty="0">
                <a:latin typeface="Arial Black" panose="020B0A04020102020204" pitchFamily="34" charset="0"/>
              </a:rPr>
              <a:t> indique un seuil où les sinistres graves commencent à dominer.</a:t>
            </a:r>
            <a:br>
              <a:rPr lang="fr-FR" sz="2000" dirty="0">
                <a:latin typeface="Arial Black" panose="020B0A04020102020204" pitchFamily="34" charset="0"/>
              </a:rPr>
            </a:br>
            <a:r>
              <a:rPr lang="fr-FR" sz="2000" dirty="0">
                <a:latin typeface="Arial Black" panose="020B0A04020102020204" pitchFamily="34" charset="0"/>
              </a:rPr>
              <a:t>- </a:t>
            </a:r>
            <a:r>
              <a:rPr lang="fr-FR" sz="2000" b="1" dirty="0">
                <a:latin typeface="Arial Black" panose="020B0A04020102020204" pitchFamily="34" charset="0"/>
              </a:rPr>
              <a:t>Le seuil optimal</a:t>
            </a:r>
            <a:r>
              <a:rPr lang="fr-FR" sz="2000" dirty="0">
                <a:latin typeface="Arial Black" panose="020B0A04020102020204" pitchFamily="34" charset="0"/>
              </a:rPr>
              <a:t> pour différencier les sinistres attritionnels et graves est souvent situé à ce point de stabilisation.</a:t>
            </a:r>
            <a:br>
              <a:rPr lang="fr-FR" sz="2400" dirty="0">
                <a:latin typeface="Arial Black" panose="020B0A04020102020204" pitchFamily="34" charset="0"/>
              </a:rPr>
            </a:br>
            <a:endParaRPr lang="fr-FR" sz="2400" dirty="0">
              <a:latin typeface="Arial Black" panose="020B0A04020102020204" pitchFamily="34" charset="0"/>
            </a:endParaRPr>
          </a:p>
        </p:txBody>
      </p:sp>
    </p:spTree>
    <p:extLst>
      <p:ext uri="{BB962C8B-B14F-4D97-AF65-F5344CB8AC3E}">
        <p14:creationId xmlns:p14="http://schemas.microsoft.com/office/powerpoint/2010/main" val="3736365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9" name="Sous-titre 8"/>
          <p:cNvSpPr>
            <a:spLocks noGrp="1"/>
          </p:cNvSpPr>
          <p:nvPr>
            <p:ph type="subTitle" idx="1"/>
          </p:nvPr>
        </p:nvSpPr>
        <p:spPr>
          <a:xfrm>
            <a:off x="0" y="0"/>
            <a:ext cx="9144000" cy="863600"/>
          </a:xfrm>
        </p:spPr>
        <p:txBody>
          <a:bodyPr/>
          <a:lstStyle/>
          <a:p>
            <a:pPr algn="ctr"/>
            <a:r>
              <a:rPr lang="fr-FR" sz="2800" dirty="0">
                <a:solidFill>
                  <a:srgbClr val="FF0000"/>
                </a:solidFill>
                <a:latin typeface="Arial Black" panose="020B0A04020102020204" pitchFamily="34" charset="0"/>
              </a:rPr>
              <a:t>CONCLUSION</a:t>
            </a:r>
          </a:p>
        </p:txBody>
      </p:sp>
      <p:sp>
        <p:nvSpPr>
          <p:cNvPr id="497" name="Google Shape;497;p39"/>
          <p:cNvSpPr txBox="1">
            <a:spLocks noGrp="1"/>
          </p:cNvSpPr>
          <p:nvPr>
            <p:ph type="title"/>
          </p:nvPr>
        </p:nvSpPr>
        <p:spPr>
          <a:xfrm>
            <a:off x="0" y="863600"/>
            <a:ext cx="9144000" cy="4279900"/>
          </a:xfrm>
          <a:prstGeom prst="rect">
            <a:avLst/>
          </a:prstGeom>
        </p:spPr>
        <p:txBody>
          <a:bodyPr spcFirstLastPara="1" wrap="square" lIns="91425" tIns="91425" rIns="91425" bIns="91425" anchor="t" anchorCtr="0">
            <a:noAutofit/>
          </a:bodyPr>
          <a:lstStyle/>
          <a:p>
            <a:r>
              <a:rPr lang="fr-FR" sz="2800" dirty="0"/>
              <a:t>L’estimateur de Hill est un outil puissant pour analyser les queues lourdes et identifier un seuil optimal entre sinistres antirationnels et sinistres graves. Il permet une meilleure </a:t>
            </a:r>
            <a:r>
              <a:rPr lang="fr-FR" sz="2800" b="1" dirty="0"/>
              <a:t>gestion des risques</a:t>
            </a:r>
            <a:r>
              <a:rPr lang="fr-FR" sz="2800" dirty="0"/>
              <a:t>, en facilitant la classification des sinistres et en adaptant les stratégies de réassurance.</a:t>
            </a:r>
            <a:br>
              <a:rPr lang="fr-FR" sz="2800" dirty="0"/>
            </a:br>
            <a:r>
              <a:rPr lang="fr-FR" sz="2800" dirty="0"/>
              <a:t>Cependant, il faut veiller à un choix pertinent de k , et compléter l'analyse avec d'autres méthodes statistiques si nécessaire.</a:t>
            </a:r>
          </a:p>
        </p:txBody>
      </p:sp>
    </p:spTree>
    <p:extLst>
      <p:ext uri="{BB962C8B-B14F-4D97-AF65-F5344CB8AC3E}">
        <p14:creationId xmlns:p14="http://schemas.microsoft.com/office/powerpoint/2010/main" val="1919829846"/>
      </p:ext>
    </p:extLst>
  </p:cSld>
  <p:clrMapOvr>
    <a:masterClrMapping/>
  </p:clrMapOvr>
</p:sld>
</file>

<file path=ppt/theme/theme1.xml><?xml version="1.0" encoding="utf-8"?>
<a:theme xmlns:a="http://schemas.openxmlformats.org/drawingml/2006/main" name=" Western Blot Breakthrough by Slidesgo">
  <a:themeElements>
    <a:clrScheme name="Simple Light">
      <a:dk1>
        <a:srgbClr val="666666"/>
      </a:dk1>
      <a:lt1>
        <a:srgbClr val="E8F8F7"/>
      </a:lt1>
      <a:dk2>
        <a:srgbClr val="A8E9E3"/>
      </a:dk2>
      <a:lt2>
        <a:srgbClr val="6ACBDA"/>
      </a:lt2>
      <a:accent1>
        <a:srgbClr val="215A80"/>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TM03457491[[fn=Métropolitain]]</Template>
  <TotalTime>955</TotalTime>
  <Words>765</Words>
  <Application>Microsoft Office PowerPoint</Application>
  <PresentationFormat>Affichage à l'écran (16:9)</PresentationFormat>
  <Paragraphs>52</Paragraphs>
  <Slides>12</Slides>
  <Notes>12</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12</vt:i4>
      </vt:variant>
    </vt:vector>
  </HeadingPairs>
  <TitlesOfParts>
    <vt:vector size="23" baseType="lpstr">
      <vt:lpstr>Viga</vt:lpstr>
      <vt:lpstr>Lato</vt:lpstr>
      <vt:lpstr>Impact</vt:lpstr>
      <vt:lpstr>Sitka Subheading</vt:lpstr>
      <vt:lpstr>Arial</vt:lpstr>
      <vt:lpstr>Roboto Condensed Light</vt:lpstr>
      <vt:lpstr>Arial Black</vt:lpstr>
      <vt:lpstr>Stencil</vt:lpstr>
      <vt:lpstr>Arial Rounded MT Bold</vt:lpstr>
      <vt:lpstr>Agency FB</vt:lpstr>
      <vt:lpstr> Western Blot Breakthrough by Slidesgo</vt:lpstr>
      <vt:lpstr>INSSEDSEXPOSE</vt:lpstr>
      <vt:lpstr>Présentation PowerPoint</vt:lpstr>
      <vt:lpstr>PLAN </vt:lpstr>
      <vt:lpstr>Introduction</vt:lpstr>
      <vt:lpstr>1&amp;&amp;11&amp;. 1.Concepts essentiels </vt:lpstr>
      <vt:lpstr>Présentation PowerPoint</vt:lpstr>
      <vt:lpstr>2.METHODOOLOGIE</vt:lpstr>
      <vt:lpstr>PRESENTATION GRAPHIQUE</vt:lpstr>
      <vt:lpstr>##    Montant-Sinistre [1 743.9934; 2559.4555; 3544.7731; 4 653.1146; 5763.7942;  6 600.6269 7 1866.0928; 8 734.7195; 9 622.1502; 10 590.2420] library(evir) # Trier les montants de sinistres en ordre décroissant sinistres-sorted &lt;- sort(sinistres-nouveaux$Montant-Sinistre, decreasing = TRUE) # Vérifier les 10 premiers sinistres triés print(head(sinistres-sorted, 10)) ##  [1] 4870.968 3172.794 2997.437 2617.943 2250.577 2205.317 2204.254 2197.149 ##  [9] 2145.947 2053.267 </vt:lpstr>
      <vt:lpstr>Présentation PowerPoint</vt:lpstr>
      <vt:lpstr>- le graphe de Hill représente l'évolution de l'estimateur de Hill (ξ(k) en fonction du nombre de sinistres envisagé (k). Début de la courbe (k petit) - Les premières valeurs peuvent fluctuer fortement , car elles dépendent des plus gros sinistres. Cela signifie qu'il y a une variabilité élevée dans les valeurs extrêmes. - Zone de stabilisation -À partir d'un certain k, la courbe devient relativement stable  Cette stabilisation indique un seuil où les sinistres graves commencent à dominer. - Le seuil optimal pour différencier les sinistres attritionnels et graves est souvent situé à ce point de stabilisation. </vt:lpstr>
      <vt:lpstr>L’estimateur de Hill est un outil puissant pour analyser les queues lourdes et identifier un seuil optimal entre sinistres antirationnels et sinistres graves. Il permet une meilleure gestion des risques, en facilitant la classification des sinistres et en adaptant les stratégies de réassurance. Cependant, il faut veiller à un choix pertinent de k , et compléter l'analyse avec d'autres méthodes statistiques si nécessaire.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RCK COMPUTERS</dc:creator>
  <cp:lastModifiedBy>jasmine daniella ORSIMANDJI KOBOUE</cp:lastModifiedBy>
  <cp:revision>46</cp:revision>
  <dcterms:modified xsi:type="dcterms:W3CDTF">2025-10-03T11:23:07Z</dcterms:modified>
</cp:coreProperties>
</file>